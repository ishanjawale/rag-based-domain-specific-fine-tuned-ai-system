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6F6B9F4-F280-27A3-FA24-B28984632F42}">
          <p14:sldIdLst>
            <p14:sldId id="256"/>
          </p14:sldIdLst>
        </p14:section>
        <p14:section name="Data" id="{1829DBD5-E1D3-D70A-C5C4-DE06E553171E}">
          <p14:sldIdLst>
            <p14:sldId id="257"/>
          </p14:sldIdLst>
        </p14:section>
        <p14:section name="Method" id="{D7F030AD-D832-4C7B-1CEF-9B7F7E77183A}">
          <p14:sldIdLst>
            <p14:sldId id="258"/>
          </p14:sldIdLst>
        </p14:section>
        <p14:section name="Retrieval" id="{A2B71D6D-1CAE-DABD-B25D-310E856A5594}">
          <p14:sldIdLst>
            <p14:sldId id="259"/>
          </p14:sldIdLst>
        </p14:section>
        <p14:section name="Evaluation" id="{79893E37-357A-C447-805C-F2EBEB86260E}">
          <p14:sldIdLst>
            <p14:sldId id="260"/>
          </p14:sldIdLst>
        </p14:section>
        <p14:section name="Agent" id="{0D3633ED-B899-746B-B244-19045667DFD3}">
          <p14:sldIdLst>
            <p14:sldId id="261"/>
          </p14:sldIdLst>
        </p14:section>
        <p14:section name="Demo" id="{F844816B-AF93-DE23-BC69-A63861A6566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2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920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Indian courts strictly penalize hallucinated citations. In 2024 India replaced the IPC, CrPC and Evidence Act with the BNS, BNSS and BSA. Sending sensitive case briefs to cloud APIs violates attorney-client privilege. Full-parameter models require multi-million-dollar clusters; this work enables domain-adapted 8B inference on commodity 8 GB consumer GPUs (under 6 GB VRAM).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Indian Legal Dataset v3. Train 147 MB, validation 8 MB. Sparse index targets citations such as Section 138 NI Act and Order 39 CPC.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Domain fine-tuning anchors statutory determinism and captures legal bigrams (anticipatory bail, Section 138, prima facie). The Gemini API failed with host resolution errors on the isolated compute node, which illustrates why local, on-premise deployment is necessary.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body" idx="101" hasCustomPrompt="1"/>
          </p:nvPr>
        </p:nvSpPr>
        <p:spPr>
          <a:xfrm>
            <a:off x="548640" y="548640"/>
            <a:ext cx="6309360" cy="274320"/>
          </a:xfrm>
          <a:prstGeom prst="rect">
            <a:avLst/>
          </a:prstGeom>
          <a:noFill/>
          <a:ln/>
        </p:spPr>
        <p:txBody>
          <a:bodyPr wrap="square" rtlCol="0"/>
          <a:lstStyle>
            <a:lvl1pPr marL="0" indent="0" algn="l">
              <a:buNone/>
              <a:defRPr lang="en-US" sz="1200" b="1" kern="0" spc="200" dirty="0">
                <a:solidFill>
                  <a:schemeClr val="accent2"/>
                </a:solidFill>
              </a:defRPr>
            </a:lvl1pPr>
          </a:lstStyle>
          <a:p>
            <a:pPr marL="0" indent="0" algn="l">
              <a:buNone/>
            </a:pPr>
            <a:endParaRPr lang="en-US" sz="1200" dirty="0"/>
          </a:p>
        </p:txBody>
      </p:sp>
      <p:sp>
        <p:nvSpPr>
          <p:cNvPr id="4" name="Text 1"/>
          <p:cNvSpPr>
            <a:spLocks noGrp="1"/>
          </p:cNvSpPr>
          <p:nvPr>
            <p:ph type="title" idx="102" hasCustomPrompt="1"/>
          </p:nvPr>
        </p:nvSpPr>
        <p:spPr>
          <a:xfrm>
            <a:off x="548640" y="914400"/>
            <a:ext cx="6309360" cy="14630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5" name="Text 1"/>
          <p:cNvSpPr>
            <a:spLocks noGrp="1"/>
          </p:cNvSpPr>
          <p:nvPr>
            <p:ph type="body" idx="103" hasCustomPrompt="1"/>
          </p:nvPr>
        </p:nvSpPr>
        <p:spPr>
          <a:xfrm>
            <a:off x="548640" y="2514600"/>
            <a:ext cx="6309360" cy="64008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Domain-Adapted Intelligence on Commodity Hardware  |  ConfAI 2026</a:t>
            </a:r>
            <a:endParaRPr lang="en-US" sz="10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548640" y="548640"/>
            <a:ext cx="6309360" cy="274320"/>
          </a:xfrm>
          <a:prstGeom prst="rect">
            <a:avLst/>
          </a:prstGeom>
          <a:noFill/>
          <a:ln/>
        </p:spPr>
        <p:txBody>
          <a:bodyPr wrap="square" lIns="0" tIns="0" rIns="0" bIns="0" rtlCol="0"/>
          <a:lstStyle/>
          <a:p>
            <a:pPr marL="0" indent="0" algn="l">
              <a:buNone/>
            </a:pPr>
            <a:r>
              <a:rPr lang="en-US" sz="1200" b="1" kern="0" spc="200" dirty="0">
                <a:solidFill>
                  <a:schemeClr val="accent2"/>
                </a:solidFill>
              </a:rPr>
              <a:t>CONFAI 2026  |  APPLIED GENERATIVE AI TRACK</a:t>
            </a:r>
            <a:endParaRPr lang="en-US" sz="1200" dirty="0"/>
          </a:p>
        </p:txBody>
      </p:sp>
      <p:sp>
        <p:nvSpPr>
          <p:cNvPr id="3" name="Text 1"/>
          <p:cNvSpPr>
            <a:spLocks noGrp="1"/>
          </p:cNvSpPr>
          <p:nvPr>
            <p:ph type="title" idx="102" hasCustomPrompt="1"/>
          </p:nvPr>
        </p:nvSpPr>
        <p:spPr>
          <a:xfrm>
            <a:off x="548640" y="914400"/>
            <a:ext cx="6309360" cy="1463040"/>
          </a:xfrm>
          <a:prstGeom prst="rect">
            <a:avLst/>
          </a:prstGeom>
          <a:noFill/>
          <a:ln/>
        </p:spPr>
        <p:txBody>
          <a:bodyPr wrap="square" lIns="0" tIns="0" rIns="0" bIns="0" rtlCol="0" anchor="t"/>
          <a:lstStyle/>
          <a:p>
            <a:pPr marL="0" indent="0" algn="l">
              <a:buNone/>
            </a:pPr>
            <a:r>
              <a:rPr lang="en-US" sz="3400" b="1" dirty="0">
                <a:solidFill>
                  <a:schemeClr val="bg1"/>
                </a:solidFill>
              </a:rPr>
              <a:t>Domain-Adapted Intelligence on Commodity Hardware</a:t>
            </a:r>
            <a:endParaRPr lang="en-US" sz="3400" dirty="0"/>
          </a:p>
        </p:txBody>
      </p:sp>
      <p:sp>
        <p:nvSpPr>
          <p:cNvPr id="4" name="Text 1"/>
          <p:cNvSpPr>
            <a:spLocks noGrp="1"/>
          </p:cNvSpPr>
          <p:nvPr>
            <p:ph type="body" idx="103" hasCustomPrompt="1"/>
          </p:nvPr>
        </p:nvSpPr>
        <p:spPr>
          <a:xfrm>
            <a:off x="548640" y="2514600"/>
            <a:ext cx="6309360" cy="640080"/>
          </a:xfrm>
          <a:prstGeom prst="rect">
            <a:avLst/>
          </a:prstGeom>
          <a:noFill/>
          <a:ln/>
        </p:spPr>
        <p:txBody>
          <a:bodyPr wrap="square" lIns="0" tIns="0" rIns="0" bIns="0" rtlCol="0" anchor="t"/>
          <a:lstStyle/>
          <a:p>
            <a:pPr marL="0" indent="0" algn="l">
              <a:buNone/>
            </a:pPr>
            <a:r>
              <a:rPr lang="en-US" sz="1800" dirty="0">
                <a:solidFill>
                  <a:schemeClr val="bg2"/>
                </a:solidFill>
              </a:rPr>
              <a:t>Rank-Stabilized LoRA with Federated Hybrid Retrieval</a:t>
            </a:r>
            <a:endParaRPr lang="en-US" sz="1800" dirty="0"/>
          </a:p>
        </p:txBody>
      </p:sp>
      <p:sp>
        <p:nvSpPr>
          <p:cNvPr id="5" name="Key figures"/>
          <p:cNvSpPr txBox="1"/>
          <p:nvPr/>
        </p:nvSpPr>
        <p:spPr>
          <a:xfrm>
            <a:off x="548640" y="3200400"/>
            <a:ext cx="6309360" cy="502920"/>
          </a:xfrm>
          <a:prstGeom prst="rect">
            <a:avLst/>
          </a:prstGeom>
          <a:noFill/>
          <a:ln/>
        </p:spPr>
        <p:txBody>
          <a:bodyPr wrap="square" lIns="0" tIns="0" rIns="0" bIns="0" rtlCol="0" anchor="t"/>
          <a:lstStyle/>
          <a:p>
            <a:pPr marL="0" indent="0">
              <a:buNone/>
            </a:pPr>
            <a:r>
              <a:rPr lang="en-US" sz="1400" b="1" dirty="0">
                <a:solidFill>
                  <a:schemeClr val="accent2"/>
                </a:solidFill>
              </a:rPr>
              <a:t>50,000 RS-LoRA fine-tuned pairs  |  5.6M federated chunks  |  Autonomous tool-using agent</a:t>
            </a:r>
            <a:endParaRPr lang="en-US" sz="1400" dirty="0"/>
          </a:p>
        </p:txBody>
      </p:sp>
      <p:sp>
        <p:nvSpPr>
          <p:cNvPr id="6" name="Affiliation"/>
          <p:cNvSpPr txBox="1"/>
          <p:nvPr/>
        </p:nvSpPr>
        <p:spPr>
          <a:xfrm>
            <a:off x="548640" y="3749040"/>
            <a:ext cx="6309360" cy="274320"/>
          </a:xfrm>
          <a:prstGeom prst="rect">
            <a:avLst/>
          </a:prstGeom>
          <a:noFill/>
          <a:ln/>
        </p:spPr>
        <p:txBody>
          <a:bodyPr wrap="square" lIns="0" tIns="0" rIns="0" bIns="0" rtlCol="0" anchor="t"/>
          <a:lstStyle/>
          <a:p>
            <a:pPr marL="0" indent="0">
              <a:buNone/>
            </a:pPr>
            <a:r>
              <a:rPr lang="en-US" sz="1400" dirty="0">
                <a:solidFill>
                  <a:schemeClr val="bg2"/>
                </a:solidFill>
              </a:rPr>
              <a:t>Plaksha University</a:t>
            </a:r>
            <a:endParaRPr lang="en-US" sz="1400" dirty="0"/>
          </a:p>
        </p:txBody>
      </p:sp>
      <p:sp>
        <p:nvSpPr>
          <p:cNvPr id="7" name="Architecture frame"/>
          <p:cNvSpPr/>
          <p:nvPr/>
        </p:nvSpPr>
        <p:spPr>
          <a:xfrm>
            <a:off x="7086600" y="548640"/>
            <a:ext cx="4553712" cy="3566160"/>
          </a:xfrm>
          <a:prstGeom prst="rect">
            <a:avLst/>
          </a:prstGeom>
          <a:solidFill>
            <a:schemeClr val="tx2"/>
          </a:solidFill>
          <a:ln w="12700">
            <a:solidFill>
              <a:schemeClr val="accent6"/>
            </a:solidFill>
          </a:ln>
        </p:spPr>
      </p:sp>
      <p:sp>
        <p:nvSpPr>
          <p:cNvPr id="11" name="Challenge label"/>
          <p:cNvSpPr txBox="1"/>
          <p:nvPr/>
        </p:nvSpPr>
        <p:spPr>
          <a:xfrm>
            <a:off x="548640" y="4315968"/>
            <a:ext cx="8229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THE CHALLENGE: HIGH-STAKES INDIAN JURISPRUDENCE</a:t>
            </a:r>
            <a:endParaRPr lang="en-US" sz="1200" dirty="0"/>
          </a:p>
        </p:txBody>
      </p:sp>
      <p:sp>
        <p:nvSpPr>
          <p:cNvPr id="12" name="Challenge card 1"/>
          <p:cNvSpPr/>
          <p:nvPr/>
        </p:nvSpPr>
        <p:spPr>
          <a:xfrm>
            <a:off x="548640" y="4663440"/>
            <a:ext cx="2601468" cy="1737360"/>
          </a:xfrm>
          <a:prstGeom prst="roundRect">
            <a:avLst>
              <a:gd name="adj" fmla="val 3158"/>
            </a:avLst>
          </a:prstGeom>
          <a:solidFill>
            <a:schemeClr val="tx2"/>
          </a:solidFill>
          <a:ln/>
        </p:spPr>
      </p:sp>
      <p:sp>
        <p:nvSpPr>
          <p:cNvPr id="13" name="Challenge heading 1"/>
          <p:cNvSpPr txBox="1"/>
          <p:nvPr/>
        </p:nvSpPr>
        <p:spPr>
          <a:xfrm>
            <a:off x="731520" y="4800600"/>
            <a:ext cx="2235708" cy="320040"/>
          </a:xfrm>
          <a:prstGeom prst="rect">
            <a:avLst/>
          </a:prstGeom>
          <a:noFill/>
          <a:ln/>
        </p:spPr>
        <p:txBody>
          <a:bodyPr wrap="square" lIns="0" tIns="0" rIns="0" bIns="0" rtlCol="0" anchor="t"/>
          <a:lstStyle/>
          <a:p>
            <a:pPr marL="0" indent="0">
              <a:buNone/>
            </a:pPr>
            <a:r>
              <a:rPr lang="en-US" sz="1600" b="1" dirty="0">
                <a:solidFill>
                  <a:schemeClr val="accent2"/>
                </a:solidFill>
                <a:latin typeface="+mj-lt" pitchFamily="34" charset="0"/>
                <a:ea typeface="+mj-lt" pitchFamily="34" charset="-122"/>
                <a:cs typeface="+mj-lt" pitchFamily="34" charset="-120"/>
              </a:rPr>
              <a:t>Statutory precision</a:t>
            </a:r>
            <a:endParaRPr lang="en-US" sz="1600" dirty="0"/>
          </a:p>
        </p:txBody>
      </p:sp>
      <p:sp>
        <p:nvSpPr>
          <p:cNvPr id="14" name="Challenge text 1"/>
          <p:cNvSpPr txBox="1"/>
          <p:nvPr/>
        </p:nvSpPr>
        <p:spPr>
          <a:xfrm>
            <a:off x="731520" y="5166360"/>
            <a:ext cx="2235708" cy="1143000"/>
          </a:xfrm>
          <a:prstGeom prst="rect">
            <a:avLst/>
          </a:prstGeom>
          <a:noFill/>
          <a:ln/>
        </p:spPr>
        <p:txBody>
          <a:bodyPr wrap="square" lIns="0" tIns="0" rIns="0" bIns="0" rtlCol="0" anchor="t"/>
          <a:lstStyle/>
          <a:p>
            <a:pPr marL="0" indent="0">
              <a:buNone/>
            </a:pPr>
            <a:r>
              <a:rPr lang="en-US" sz="1400" dirty="0">
                <a:solidFill>
                  <a:schemeClr val="bg1"/>
                </a:solidFill>
              </a:rPr>
              <a:t>Courts penalize hallucinated citations, yet foundation models invent sections, acts and precedents.</a:t>
            </a:r>
            <a:endParaRPr lang="en-US" sz="1400" dirty="0"/>
          </a:p>
        </p:txBody>
      </p:sp>
      <p:sp>
        <p:nvSpPr>
          <p:cNvPr id="15" name="Challenge card 2"/>
          <p:cNvSpPr/>
          <p:nvPr/>
        </p:nvSpPr>
        <p:spPr>
          <a:xfrm>
            <a:off x="3378708" y="4663440"/>
            <a:ext cx="2601468" cy="1737360"/>
          </a:xfrm>
          <a:prstGeom prst="roundRect">
            <a:avLst>
              <a:gd name="adj" fmla="val 3158"/>
            </a:avLst>
          </a:prstGeom>
          <a:solidFill>
            <a:schemeClr val="tx2"/>
          </a:solidFill>
          <a:ln/>
        </p:spPr>
      </p:sp>
      <p:sp>
        <p:nvSpPr>
          <p:cNvPr id="16" name="Challenge heading 2"/>
          <p:cNvSpPr txBox="1"/>
          <p:nvPr/>
        </p:nvSpPr>
        <p:spPr>
          <a:xfrm>
            <a:off x="3561588" y="4800600"/>
            <a:ext cx="2235708" cy="320040"/>
          </a:xfrm>
          <a:prstGeom prst="rect">
            <a:avLst/>
          </a:prstGeom>
          <a:noFill/>
          <a:ln/>
        </p:spPr>
        <p:txBody>
          <a:bodyPr wrap="square" lIns="0" tIns="0" rIns="0" bIns="0" rtlCol="0" anchor="t"/>
          <a:lstStyle/>
          <a:p>
            <a:pPr marL="0" indent="0">
              <a:buNone/>
            </a:pPr>
            <a:r>
              <a:rPr lang="en-US" sz="1600" b="1" dirty="0">
                <a:solidFill>
                  <a:schemeClr val="accent2"/>
                </a:solidFill>
                <a:latin typeface="+mj-lt" pitchFamily="34" charset="0"/>
                <a:ea typeface="+mj-lt" pitchFamily="34" charset="-122"/>
                <a:cs typeface="+mj-lt" pitchFamily="34" charset="-120"/>
              </a:rPr>
              <a:t>2024 legal overhaul</a:t>
            </a:r>
            <a:endParaRPr lang="en-US" sz="1600" dirty="0"/>
          </a:p>
        </p:txBody>
      </p:sp>
      <p:sp>
        <p:nvSpPr>
          <p:cNvPr id="17" name="Challenge text 2"/>
          <p:cNvSpPr txBox="1"/>
          <p:nvPr/>
        </p:nvSpPr>
        <p:spPr>
          <a:xfrm>
            <a:off x="3561588" y="5166360"/>
            <a:ext cx="2235708" cy="1143000"/>
          </a:xfrm>
          <a:prstGeom prst="rect">
            <a:avLst/>
          </a:prstGeom>
          <a:noFill/>
          <a:ln/>
        </p:spPr>
        <p:txBody>
          <a:bodyPr wrap="square" lIns="0" tIns="0" rIns="0" bIns="0" rtlCol="0" anchor="t"/>
          <a:lstStyle/>
          <a:p>
            <a:pPr marL="0" indent="0">
              <a:buNone/>
            </a:pPr>
            <a:r>
              <a:rPr lang="en-US" sz="1400" dirty="0">
                <a:solidFill>
                  <a:schemeClr val="bg1"/>
                </a:solidFill>
              </a:rPr>
              <a:t>IPC, CrPC and the Evidence Act became BNS, BNSS and BSA. Commercial LLMs lack post-enactment awareness.</a:t>
            </a:r>
            <a:endParaRPr lang="en-US" sz="1400" dirty="0"/>
          </a:p>
        </p:txBody>
      </p:sp>
      <p:sp>
        <p:nvSpPr>
          <p:cNvPr id="18" name="Challenge card 3"/>
          <p:cNvSpPr/>
          <p:nvPr/>
        </p:nvSpPr>
        <p:spPr>
          <a:xfrm>
            <a:off x="6208776" y="4663440"/>
            <a:ext cx="2601468" cy="1737360"/>
          </a:xfrm>
          <a:prstGeom prst="roundRect">
            <a:avLst>
              <a:gd name="adj" fmla="val 3158"/>
            </a:avLst>
          </a:prstGeom>
          <a:solidFill>
            <a:schemeClr val="tx2"/>
          </a:solidFill>
          <a:ln/>
        </p:spPr>
      </p:sp>
      <p:sp>
        <p:nvSpPr>
          <p:cNvPr id="19" name="Challenge heading 3"/>
          <p:cNvSpPr txBox="1"/>
          <p:nvPr/>
        </p:nvSpPr>
        <p:spPr>
          <a:xfrm>
            <a:off x="6391656" y="4800600"/>
            <a:ext cx="2235708" cy="320040"/>
          </a:xfrm>
          <a:prstGeom prst="rect">
            <a:avLst/>
          </a:prstGeom>
          <a:noFill/>
          <a:ln/>
        </p:spPr>
        <p:txBody>
          <a:bodyPr wrap="square" lIns="0" tIns="0" rIns="0" bIns="0" rtlCol="0" anchor="t"/>
          <a:lstStyle/>
          <a:p>
            <a:pPr marL="0" indent="0">
              <a:buNone/>
            </a:pPr>
            <a:r>
              <a:rPr lang="en-US" sz="1600" b="1" dirty="0">
                <a:solidFill>
                  <a:schemeClr val="accent2"/>
                </a:solidFill>
                <a:latin typeface="+mj-lt" pitchFamily="34" charset="0"/>
                <a:ea typeface="+mj-lt" pitchFamily="34" charset="-122"/>
                <a:cs typeface="+mj-lt" pitchFamily="34" charset="-120"/>
              </a:rPr>
              <a:t>Data privacy</a:t>
            </a:r>
            <a:endParaRPr lang="en-US" sz="1600" dirty="0"/>
          </a:p>
        </p:txBody>
      </p:sp>
      <p:sp>
        <p:nvSpPr>
          <p:cNvPr id="20" name="Challenge text 3"/>
          <p:cNvSpPr txBox="1"/>
          <p:nvPr/>
        </p:nvSpPr>
        <p:spPr>
          <a:xfrm>
            <a:off x="6391656" y="5166360"/>
            <a:ext cx="2235708" cy="1143000"/>
          </a:xfrm>
          <a:prstGeom prst="rect">
            <a:avLst/>
          </a:prstGeom>
          <a:noFill/>
          <a:ln/>
        </p:spPr>
        <p:txBody>
          <a:bodyPr wrap="square" lIns="0" tIns="0" rIns="0" bIns="0" rtlCol="0" anchor="t"/>
          <a:lstStyle/>
          <a:p>
            <a:pPr marL="0" indent="0">
              <a:buNone/>
            </a:pPr>
            <a:r>
              <a:rPr lang="en-US" sz="1400" dirty="0">
                <a:solidFill>
                  <a:schemeClr val="bg1"/>
                </a:solidFill>
              </a:rPr>
              <a:t>Sending case briefs to proprietary cloud APIs risks attorney-client privilege and privacy standards.</a:t>
            </a:r>
            <a:endParaRPr lang="en-US" sz="1400" dirty="0"/>
          </a:p>
        </p:txBody>
      </p:sp>
      <p:sp>
        <p:nvSpPr>
          <p:cNvPr id="21" name="Challenge card 4"/>
          <p:cNvSpPr/>
          <p:nvPr/>
        </p:nvSpPr>
        <p:spPr>
          <a:xfrm>
            <a:off x="9038844" y="4663440"/>
            <a:ext cx="2601468" cy="1737360"/>
          </a:xfrm>
          <a:prstGeom prst="roundRect">
            <a:avLst>
              <a:gd name="adj" fmla="val 3158"/>
            </a:avLst>
          </a:prstGeom>
          <a:solidFill>
            <a:schemeClr val="tx2"/>
          </a:solidFill>
          <a:ln/>
        </p:spPr>
      </p:sp>
      <p:sp>
        <p:nvSpPr>
          <p:cNvPr id="22" name="Challenge heading 4"/>
          <p:cNvSpPr txBox="1"/>
          <p:nvPr/>
        </p:nvSpPr>
        <p:spPr>
          <a:xfrm>
            <a:off x="9221724" y="4800600"/>
            <a:ext cx="2235708" cy="320040"/>
          </a:xfrm>
          <a:prstGeom prst="rect">
            <a:avLst/>
          </a:prstGeom>
          <a:noFill/>
          <a:ln/>
        </p:spPr>
        <p:txBody>
          <a:bodyPr wrap="square" lIns="0" tIns="0" rIns="0" bIns="0" rtlCol="0" anchor="t"/>
          <a:lstStyle/>
          <a:p>
            <a:pPr marL="0" indent="0">
              <a:buNone/>
            </a:pPr>
            <a:r>
              <a:rPr lang="en-US" sz="1600" b="1" dirty="0">
                <a:solidFill>
                  <a:schemeClr val="accent2"/>
                </a:solidFill>
                <a:latin typeface="+mj-lt" pitchFamily="34" charset="0"/>
                <a:ea typeface="+mj-lt" pitchFamily="34" charset="-122"/>
                <a:cs typeface="+mj-lt" pitchFamily="34" charset="-120"/>
              </a:rPr>
              <a:t>Hardware access</a:t>
            </a:r>
            <a:endParaRPr lang="en-US" sz="1600" dirty="0"/>
          </a:p>
        </p:txBody>
      </p:sp>
      <p:sp>
        <p:nvSpPr>
          <p:cNvPr id="23" name="Challenge text 4"/>
          <p:cNvSpPr txBox="1"/>
          <p:nvPr/>
        </p:nvSpPr>
        <p:spPr>
          <a:xfrm>
            <a:off x="9221724" y="5166360"/>
            <a:ext cx="2235708" cy="1143000"/>
          </a:xfrm>
          <a:prstGeom prst="rect">
            <a:avLst/>
          </a:prstGeom>
          <a:noFill/>
          <a:ln/>
        </p:spPr>
        <p:txBody>
          <a:bodyPr wrap="square" lIns="0" tIns="0" rIns="0" bIns="0" rtlCol="0" anchor="t"/>
          <a:lstStyle/>
          <a:p>
            <a:pPr marL="0" indent="0">
              <a:buNone/>
            </a:pPr>
            <a:r>
              <a:rPr lang="en-US" sz="1400" dirty="0">
                <a:solidFill>
                  <a:schemeClr val="bg1"/>
                </a:solidFill>
              </a:rPr>
              <a:t>Full-parameter models need costly clusters. This work runs an 8B model in under 6 GB VRAM.</a:t>
            </a:r>
            <a:endParaRPr lang="en-US" sz="1400" dirty="0"/>
          </a:p>
        </p:txBody>
      </p:sp>
      <p:sp>
        <p:nvSpPr>
          <p:cNvPr id="24" name="Arch label"/>
          <p:cNvSpPr txBox="1"/>
          <p:nvPr/>
        </p:nvSpPr>
        <p:spPr>
          <a:xfrm>
            <a:off x="7269480" y="676656"/>
            <a:ext cx="4187952" cy="201168"/>
          </a:xfrm>
          <a:prstGeom prst="rect">
            <a:avLst/>
          </a:prstGeom>
          <a:noFill/>
        </p:spPr>
        <p:txBody>
          <a:bodyPr wrap="square" lIns="0" tIns="0" rIns="0" bIns="0" anchor="t">
            <a:noAutofit/>
          </a:bodyPr>
          <a:lstStyle/>
          <a:p>
            <a:r>
              <a:rPr sz="1100" b="1" spc="200">
                <a:solidFill>
                  <a:schemeClr val="accent2"/>
                </a:solidFill>
              </a:rPr>
              <a:t>SYSTEM ARCHITECTURE</a:t>
            </a:r>
          </a:p>
        </p:txBody>
      </p:sp>
      <p:sp>
        <p:nvSpPr>
          <p:cNvPr id="25" name="Arch query"/>
          <p:cNvSpPr/>
          <p:nvPr/>
        </p:nvSpPr>
        <p:spPr>
          <a:xfrm>
            <a:off x="7269480" y="932688"/>
            <a:ext cx="4187952" cy="329184"/>
          </a:xfrm>
          <a:prstGeom prst="roundRect">
            <a:avLst>
              <a:gd name="adj" fmla="val 12000"/>
            </a:avLst>
          </a:prstGeom>
          <a:solidFill>
            <a:schemeClr val="tx1"/>
          </a:solidFill>
          <a:ln w="9525">
            <a:solidFill>
              <a:schemeClr val="accent2"/>
            </a:solidFill>
          </a:ln>
        </p:spPr>
        <p:txBody>
          <a:bodyPr rtlCol="0" anchor="ctr"/>
          <a:lstStyle/>
          <a:p>
            <a:pPr algn="ctr"/>
            <a:endParaRPr/>
          </a:p>
        </p:txBody>
      </p:sp>
      <p:sp>
        <p:nvSpPr>
          <p:cNvPr id="26" name="Arch query text"/>
          <p:cNvSpPr txBox="1"/>
          <p:nvPr/>
        </p:nvSpPr>
        <p:spPr>
          <a:xfrm>
            <a:off x="7315200" y="932688"/>
            <a:ext cx="4096512" cy="329184"/>
          </a:xfrm>
          <a:prstGeom prst="rect">
            <a:avLst/>
          </a:prstGeom>
          <a:noFill/>
        </p:spPr>
        <p:txBody>
          <a:bodyPr wrap="square" lIns="0" tIns="0" rIns="0" bIns="0" anchor="ctr">
            <a:noAutofit/>
          </a:bodyPr>
          <a:lstStyle/>
          <a:p>
            <a:pPr algn="ctr"/>
            <a:r>
              <a:rPr sz="1100" b="1">
                <a:solidFill>
                  <a:schemeClr val="bg1"/>
                </a:solidFill>
              </a:rPr>
              <a:t>User query or drafting instruction</a:t>
            </a:r>
          </a:p>
        </p:txBody>
      </p:sp>
      <p:cxnSp>
        <p:nvCxnSpPr>
          <p:cNvPr id="27" name="Connector 26"/>
          <p:cNvCxnSpPr/>
          <p:nvPr/>
        </p:nvCxnSpPr>
        <p:spPr>
          <a:xfrm>
            <a:off x="9363456" y="1261872"/>
            <a:ext cx="0" cy="128016"/>
          </a:xfrm>
          <a:prstGeom prst="line">
            <a:avLst/>
          </a:prstGeom>
          <a:ln w="15875">
            <a:solidFill>
              <a:schemeClr val="accent2"/>
            </a:solidFill>
            <a:tailEnd type="triangle" w="med" len="med"/>
          </a:ln>
        </p:spPr>
      </p:cxnSp>
      <p:sp>
        <p:nvSpPr>
          <p:cNvPr id="28" name="Arch router"/>
          <p:cNvSpPr/>
          <p:nvPr/>
        </p:nvSpPr>
        <p:spPr>
          <a:xfrm>
            <a:off x="7269480" y="1389888"/>
            <a:ext cx="4187952" cy="329184"/>
          </a:xfrm>
          <a:prstGeom prst="roundRect">
            <a:avLst>
              <a:gd name="adj" fmla="val 12000"/>
            </a:avLst>
          </a:prstGeom>
          <a:solidFill>
            <a:schemeClr val="accent3"/>
          </a:solidFill>
          <a:ln>
            <a:noFill/>
          </a:ln>
        </p:spPr>
        <p:txBody>
          <a:bodyPr rtlCol="0" anchor="ctr"/>
          <a:lstStyle/>
          <a:p>
            <a:pPr algn="ctr"/>
            <a:endParaRPr/>
          </a:p>
        </p:txBody>
      </p:sp>
      <p:sp>
        <p:nvSpPr>
          <p:cNvPr id="29" name="Arch router text"/>
          <p:cNvSpPr txBox="1"/>
          <p:nvPr/>
        </p:nvSpPr>
        <p:spPr>
          <a:xfrm>
            <a:off x="7315200" y="1389888"/>
            <a:ext cx="4096512" cy="329184"/>
          </a:xfrm>
          <a:prstGeom prst="rect">
            <a:avLst/>
          </a:prstGeom>
          <a:noFill/>
        </p:spPr>
        <p:txBody>
          <a:bodyPr wrap="square" lIns="0" tIns="0" rIns="0" bIns="0" anchor="ctr">
            <a:noAutofit/>
          </a:bodyPr>
          <a:lstStyle/>
          <a:p>
            <a:pPr algn="ctr"/>
            <a:r>
              <a:rPr sz="1100" b="1">
                <a:solidFill>
                  <a:schemeClr val="bg1"/>
                </a:solidFill>
              </a:rPr>
              <a:t>Intent router: statutes to LOCAL, general to WEB</a:t>
            </a:r>
          </a:p>
        </p:txBody>
      </p:sp>
      <p:cxnSp>
        <p:nvCxnSpPr>
          <p:cNvPr id="30" name="Connector 29"/>
          <p:cNvCxnSpPr/>
          <p:nvPr/>
        </p:nvCxnSpPr>
        <p:spPr>
          <a:xfrm flipH="1">
            <a:off x="7936992" y="1719072"/>
            <a:ext cx="1426464" cy="128016"/>
          </a:xfrm>
          <a:prstGeom prst="line">
            <a:avLst/>
          </a:prstGeom>
          <a:ln w="15875">
            <a:solidFill>
              <a:schemeClr val="accent2"/>
            </a:solidFill>
            <a:tailEnd type="triangle" w="med" len="med"/>
          </a:ln>
        </p:spPr>
      </p:cxnSp>
      <p:cxnSp>
        <p:nvCxnSpPr>
          <p:cNvPr id="31" name="Connector 30"/>
          <p:cNvCxnSpPr/>
          <p:nvPr/>
        </p:nvCxnSpPr>
        <p:spPr>
          <a:xfrm>
            <a:off x="9363456" y="1719072"/>
            <a:ext cx="0" cy="128016"/>
          </a:xfrm>
          <a:prstGeom prst="line">
            <a:avLst/>
          </a:prstGeom>
          <a:ln w="15875">
            <a:solidFill>
              <a:schemeClr val="accent2"/>
            </a:solidFill>
            <a:tailEnd type="triangle" w="med" len="med"/>
          </a:ln>
        </p:spPr>
      </p:cxnSp>
      <p:cxnSp>
        <p:nvCxnSpPr>
          <p:cNvPr id="32" name="Connector 31"/>
          <p:cNvCxnSpPr/>
          <p:nvPr/>
        </p:nvCxnSpPr>
        <p:spPr>
          <a:xfrm>
            <a:off x="9363456" y="1719072"/>
            <a:ext cx="1426464" cy="128016"/>
          </a:xfrm>
          <a:prstGeom prst="line">
            <a:avLst/>
          </a:prstGeom>
          <a:ln w="15875">
            <a:solidFill>
              <a:schemeClr val="accent2"/>
            </a:solidFill>
            <a:tailEnd type="triangle" w="med" len="med"/>
          </a:ln>
        </p:spPr>
      </p:cxnSp>
      <p:sp>
        <p:nvSpPr>
          <p:cNvPr id="33" name="Arch dense acts"/>
          <p:cNvSpPr/>
          <p:nvPr/>
        </p:nvSpPr>
        <p:spPr>
          <a:xfrm>
            <a:off x="7269480" y="1847088"/>
            <a:ext cx="1335024" cy="548640"/>
          </a:xfrm>
          <a:prstGeom prst="roundRect">
            <a:avLst>
              <a:gd name="adj" fmla="val 12000"/>
            </a:avLst>
          </a:prstGeom>
          <a:solidFill>
            <a:schemeClr val="accent3"/>
          </a:solidFill>
          <a:ln>
            <a:noFill/>
          </a:ln>
        </p:spPr>
        <p:txBody>
          <a:bodyPr rtlCol="0" anchor="ctr"/>
          <a:lstStyle/>
          <a:p>
            <a:pPr algn="ctr"/>
            <a:endParaRPr/>
          </a:p>
        </p:txBody>
      </p:sp>
      <p:sp>
        <p:nvSpPr>
          <p:cNvPr id="34" name="Arch dense acts text"/>
          <p:cNvSpPr txBox="1"/>
          <p:nvPr/>
        </p:nvSpPr>
        <p:spPr>
          <a:xfrm>
            <a:off x="7315200" y="1847088"/>
            <a:ext cx="1243584" cy="548640"/>
          </a:xfrm>
          <a:prstGeom prst="rect">
            <a:avLst/>
          </a:prstGeom>
          <a:noFill/>
        </p:spPr>
        <p:txBody>
          <a:bodyPr wrap="square" lIns="0" tIns="0" rIns="0" bIns="0" anchor="ctr">
            <a:noAutofit/>
          </a:bodyPr>
          <a:lstStyle/>
          <a:p>
            <a:pPr algn="ctr"/>
            <a:r>
              <a:rPr sz="1100" b="1">
                <a:solidFill>
                  <a:schemeClr val="bg1"/>
                </a:solidFill>
              </a:rPr>
              <a:t>Dense search</a:t>
            </a:r>
          </a:p>
          <a:p>
            <a:pPr algn="ctr"/>
            <a:r>
              <a:rPr sz="1000" b="0">
                <a:solidFill>
                  <a:schemeClr val="bg1"/>
                </a:solidFill>
              </a:rPr>
              <a:t>99,243 Act sections</a:t>
            </a:r>
          </a:p>
        </p:txBody>
      </p:sp>
      <p:sp>
        <p:nvSpPr>
          <p:cNvPr id="35" name="Arch dense cases"/>
          <p:cNvSpPr/>
          <p:nvPr/>
        </p:nvSpPr>
        <p:spPr>
          <a:xfrm>
            <a:off x="8695944" y="1847088"/>
            <a:ext cx="1335024" cy="548640"/>
          </a:xfrm>
          <a:prstGeom prst="roundRect">
            <a:avLst>
              <a:gd name="adj" fmla="val 12000"/>
            </a:avLst>
          </a:prstGeom>
          <a:solidFill>
            <a:schemeClr val="accent3"/>
          </a:solidFill>
          <a:ln>
            <a:noFill/>
          </a:ln>
        </p:spPr>
        <p:txBody>
          <a:bodyPr rtlCol="0" anchor="ctr"/>
          <a:lstStyle/>
          <a:p>
            <a:pPr algn="ctr"/>
            <a:endParaRPr/>
          </a:p>
        </p:txBody>
      </p:sp>
      <p:sp>
        <p:nvSpPr>
          <p:cNvPr id="36" name="Arch dense cases text"/>
          <p:cNvSpPr txBox="1"/>
          <p:nvPr/>
        </p:nvSpPr>
        <p:spPr>
          <a:xfrm>
            <a:off x="8741664" y="1847088"/>
            <a:ext cx="1243584" cy="548640"/>
          </a:xfrm>
          <a:prstGeom prst="rect">
            <a:avLst/>
          </a:prstGeom>
          <a:noFill/>
        </p:spPr>
        <p:txBody>
          <a:bodyPr wrap="square" lIns="0" tIns="0" rIns="0" bIns="0" anchor="ctr">
            <a:noAutofit/>
          </a:bodyPr>
          <a:lstStyle/>
          <a:p>
            <a:pPr algn="ctr"/>
            <a:r>
              <a:rPr sz="1100" b="1">
                <a:solidFill>
                  <a:schemeClr val="bg1"/>
                </a:solidFill>
              </a:rPr>
              <a:t>Dense search</a:t>
            </a:r>
          </a:p>
          <a:p>
            <a:pPr algn="ctr"/>
            <a:r>
              <a:rPr sz="1000" b="0">
                <a:solidFill>
                  <a:schemeClr val="bg1"/>
                </a:solidFill>
              </a:rPr>
              <a:t>5.5M judgment chunks</a:t>
            </a:r>
          </a:p>
        </p:txBody>
      </p:sp>
      <p:sp>
        <p:nvSpPr>
          <p:cNvPr id="37" name="Arch bm25"/>
          <p:cNvSpPr/>
          <p:nvPr/>
        </p:nvSpPr>
        <p:spPr>
          <a:xfrm>
            <a:off x="10122408" y="1847088"/>
            <a:ext cx="1335024" cy="548640"/>
          </a:xfrm>
          <a:prstGeom prst="roundRect">
            <a:avLst>
              <a:gd name="adj" fmla="val 12000"/>
            </a:avLst>
          </a:prstGeom>
          <a:solidFill>
            <a:schemeClr val="accent3"/>
          </a:solidFill>
          <a:ln>
            <a:noFill/>
          </a:ln>
        </p:spPr>
        <p:txBody>
          <a:bodyPr rtlCol="0" anchor="ctr"/>
          <a:lstStyle/>
          <a:p>
            <a:pPr algn="ctr"/>
            <a:endParaRPr/>
          </a:p>
        </p:txBody>
      </p:sp>
      <p:sp>
        <p:nvSpPr>
          <p:cNvPr id="38" name="Arch bm25 text"/>
          <p:cNvSpPr txBox="1"/>
          <p:nvPr/>
        </p:nvSpPr>
        <p:spPr>
          <a:xfrm>
            <a:off x="10168128" y="1847088"/>
            <a:ext cx="1243584" cy="548640"/>
          </a:xfrm>
          <a:prstGeom prst="rect">
            <a:avLst/>
          </a:prstGeom>
          <a:noFill/>
        </p:spPr>
        <p:txBody>
          <a:bodyPr wrap="square" lIns="0" tIns="0" rIns="0" bIns="0" anchor="ctr">
            <a:noAutofit/>
          </a:bodyPr>
          <a:lstStyle/>
          <a:p>
            <a:pPr algn="ctr"/>
            <a:r>
              <a:rPr sz="1100" b="1">
                <a:solidFill>
                  <a:schemeClr val="bg1"/>
                </a:solidFill>
              </a:rPr>
              <a:t>BM25 lexical</a:t>
            </a:r>
          </a:p>
          <a:p>
            <a:pPr algn="ctr"/>
            <a:r>
              <a:rPr sz="1000" b="0">
                <a:solidFill>
                  <a:schemeClr val="bg1"/>
                </a:solidFill>
              </a:rPr>
              <a:t>exact citations</a:t>
            </a:r>
          </a:p>
        </p:txBody>
      </p:sp>
      <p:cxnSp>
        <p:nvCxnSpPr>
          <p:cNvPr id="39" name="Connector 38"/>
          <p:cNvCxnSpPr/>
          <p:nvPr/>
        </p:nvCxnSpPr>
        <p:spPr>
          <a:xfrm>
            <a:off x="7936992" y="2395728"/>
            <a:ext cx="1426464" cy="128016"/>
          </a:xfrm>
          <a:prstGeom prst="line">
            <a:avLst/>
          </a:prstGeom>
          <a:ln w="15875">
            <a:solidFill>
              <a:schemeClr val="accent2"/>
            </a:solidFill>
            <a:tailEnd type="triangle" w="med" len="med"/>
          </a:ln>
        </p:spPr>
      </p:cxnSp>
      <p:cxnSp>
        <p:nvCxnSpPr>
          <p:cNvPr id="40" name="Connector 39"/>
          <p:cNvCxnSpPr/>
          <p:nvPr/>
        </p:nvCxnSpPr>
        <p:spPr>
          <a:xfrm>
            <a:off x="9363456" y="2395728"/>
            <a:ext cx="0" cy="128016"/>
          </a:xfrm>
          <a:prstGeom prst="line">
            <a:avLst/>
          </a:prstGeom>
          <a:ln w="15875">
            <a:solidFill>
              <a:schemeClr val="accent2"/>
            </a:solidFill>
            <a:tailEnd type="triangle" w="med" len="med"/>
          </a:ln>
        </p:spPr>
      </p:cxnSp>
      <p:cxnSp>
        <p:nvCxnSpPr>
          <p:cNvPr id="41" name="Connector 40"/>
          <p:cNvCxnSpPr/>
          <p:nvPr/>
        </p:nvCxnSpPr>
        <p:spPr>
          <a:xfrm flipH="1">
            <a:off x="9363456" y="2395728"/>
            <a:ext cx="1426464" cy="128016"/>
          </a:xfrm>
          <a:prstGeom prst="line">
            <a:avLst/>
          </a:prstGeom>
          <a:ln w="15875">
            <a:solidFill>
              <a:schemeClr val="accent2"/>
            </a:solidFill>
            <a:tailEnd type="triangle" w="med" len="med"/>
          </a:ln>
        </p:spPr>
      </p:cxnSp>
      <p:sp>
        <p:nvSpPr>
          <p:cNvPr id="42" name="Arch rerank"/>
          <p:cNvSpPr/>
          <p:nvPr/>
        </p:nvSpPr>
        <p:spPr>
          <a:xfrm>
            <a:off x="7269480" y="2523744"/>
            <a:ext cx="4187952" cy="329184"/>
          </a:xfrm>
          <a:prstGeom prst="roundRect">
            <a:avLst>
              <a:gd name="adj" fmla="val 12000"/>
            </a:avLst>
          </a:prstGeom>
          <a:solidFill>
            <a:schemeClr val="tx1"/>
          </a:solidFill>
          <a:ln w="9525">
            <a:solidFill>
              <a:schemeClr val="accent2"/>
            </a:solidFill>
          </a:ln>
        </p:spPr>
        <p:txBody>
          <a:bodyPr rtlCol="0" anchor="ctr"/>
          <a:lstStyle/>
          <a:p>
            <a:pPr algn="ctr"/>
            <a:endParaRPr/>
          </a:p>
        </p:txBody>
      </p:sp>
      <p:sp>
        <p:nvSpPr>
          <p:cNvPr id="43" name="Arch rerank text"/>
          <p:cNvSpPr txBox="1"/>
          <p:nvPr/>
        </p:nvSpPr>
        <p:spPr>
          <a:xfrm>
            <a:off x="7315200" y="2523744"/>
            <a:ext cx="4096512" cy="329184"/>
          </a:xfrm>
          <a:prstGeom prst="rect">
            <a:avLst/>
          </a:prstGeom>
          <a:noFill/>
        </p:spPr>
        <p:txBody>
          <a:bodyPr wrap="square" lIns="0" tIns="0" rIns="0" bIns="0" anchor="ctr">
            <a:noAutofit/>
          </a:bodyPr>
          <a:lstStyle/>
          <a:p>
            <a:pPr algn="ctr"/>
            <a:r>
              <a:rPr sz="1100" b="1">
                <a:solidFill>
                  <a:schemeClr val="bg1"/>
                </a:solidFill>
              </a:rPr>
              <a:t>Cross-encoder rerank: top-20 to top-6</a:t>
            </a:r>
          </a:p>
        </p:txBody>
      </p:sp>
      <p:cxnSp>
        <p:nvCxnSpPr>
          <p:cNvPr id="44" name="Connector 43"/>
          <p:cNvCxnSpPr/>
          <p:nvPr/>
        </p:nvCxnSpPr>
        <p:spPr>
          <a:xfrm>
            <a:off x="9363456" y="2852928"/>
            <a:ext cx="0" cy="128016"/>
          </a:xfrm>
          <a:prstGeom prst="line">
            <a:avLst/>
          </a:prstGeom>
          <a:ln w="15875">
            <a:solidFill>
              <a:schemeClr val="accent2"/>
            </a:solidFill>
            <a:tailEnd type="triangle" w="med" len="med"/>
          </a:ln>
        </p:spPr>
      </p:cxnSp>
      <p:sp>
        <p:nvSpPr>
          <p:cNvPr id="45" name="Arch llm"/>
          <p:cNvSpPr/>
          <p:nvPr/>
        </p:nvSpPr>
        <p:spPr>
          <a:xfrm>
            <a:off x="7269480" y="2980944"/>
            <a:ext cx="4187952" cy="438912"/>
          </a:xfrm>
          <a:prstGeom prst="roundRect">
            <a:avLst>
              <a:gd name="adj" fmla="val 12000"/>
            </a:avLst>
          </a:prstGeom>
          <a:solidFill>
            <a:schemeClr val="accent2"/>
          </a:solidFill>
          <a:ln>
            <a:noFill/>
          </a:ln>
        </p:spPr>
        <p:txBody>
          <a:bodyPr rtlCol="0" anchor="ctr"/>
          <a:lstStyle/>
          <a:p>
            <a:pPr algn="ctr"/>
            <a:endParaRPr/>
          </a:p>
        </p:txBody>
      </p:sp>
      <p:sp>
        <p:nvSpPr>
          <p:cNvPr id="46" name="Arch llm text"/>
          <p:cNvSpPr txBox="1"/>
          <p:nvPr/>
        </p:nvSpPr>
        <p:spPr>
          <a:xfrm>
            <a:off x="7315200" y="2980944"/>
            <a:ext cx="4096512" cy="438912"/>
          </a:xfrm>
          <a:prstGeom prst="rect">
            <a:avLst/>
          </a:prstGeom>
          <a:noFill/>
        </p:spPr>
        <p:txBody>
          <a:bodyPr wrap="square" lIns="0" tIns="0" rIns="0" bIns="0" anchor="ctr">
            <a:noAutofit/>
          </a:bodyPr>
          <a:lstStyle/>
          <a:p>
            <a:pPr algn="ctr"/>
            <a:r>
              <a:rPr sz="1200" b="1">
                <a:solidFill>
                  <a:schemeClr val="tx1"/>
                </a:solidFill>
              </a:rPr>
              <a:t>Qwen3-VL-8B-Legal (RS-LoRA)</a:t>
            </a:r>
          </a:p>
          <a:p>
            <a:pPr algn="ctr"/>
            <a:r>
              <a:rPr sz="1000" b="0">
                <a:solidFill>
                  <a:schemeClr val="tx1"/>
                </a:solidFill>
              </a:rPr>
              <a:t>4-bit NF4, 5.96 GB VRAM on RTX 5060</a:t>
            </a:r>
          </a:p>
        </p:txBody>
      </p:sp>
      <p:cxnSp>
        <p:nvCxnSpPr>
          <p:cNvPr id="47" name="Connector 46"/>
          <p:cNvCxnSpPr/>
          <p:nvPr/>
        </p:nvCxnSpPr>
        <p:spPr>
          <a:xfrm>
            <a:off x="8293608" y="3419856"/>
            <a:ext cx="0" cy="128016"/>
          </a:xfrm>
          <a:prstGeom prst="line">
            <a:avLst/>
          </a:prstGeom>
          <a:ln w="15875">
            <a:solidFill>
              <a:schemeClr val="accent2"/>
            </a:solidFill>
            <a:tailEnd type="triangle" w="med" len="med"/>
          </a:ln>
        </p:spPr>
      </p:cxnSp>
      <p:cxnSp>
        <p:nvCxnSpPr>
          <p:cNvPr id="48" name="Connector 47"/>
          <p:cNvCxnSpPr/>
          <p:nvPr/>
        </p:nvCxnSpPr>
        <p:spPr>
          <a:xfrm>
            <a:off x="10433304" y="3419856"/>
            <a:ext cx="0" cy="128016"/>
          </a:xfrm>
          <a:prstGeom prst="line">
            <a:avLst/>
          </a:prstGeom>
          <a:ln w="15875">
            <a:solidFill>
              <a:schemeClr val="accent2"/>
            </a:solidFill>
            <a:tailEnd type="triangle" w="med" len="med"/>
          </a:ln>
        </p:spPr>
      </p:cxnSp>
      <p:sp>
        <p:nvSpPr>
          <p:cNvPr id="49" name="Arch answer"/>
          <p:cNvSpPr/>
          <p:nvPr/>
        </p:nvSpPr>
        <p:spPr>
          <a:xfrm>
            <a:off x="7269480" y="3547872"/>
            <a:ext cx="2048256" cy="420624"/>
          </a:xfrm>
          <a:prstGeom prst="roundRect">
            <a:avLst>
              <a:gd name="adj" fmla="val 12000"/>
            </a:avLst>
          </a:prstGeom>
          <a:solidFill>
            <a:schemeClr val="accent4"/>
          </a:solidFill>
          <a:ln>
            <a:noFill/>
          </a:ln>
        </p:spPr>
        <p:txBody>
          <a:bodyPr rtlCol="0" anchor="ctr"/>
          <a:lstStyle/>
          <a:p>
            <a:pPr algn="ctr"/>
            <a:endParaRPr/>
          </a:p>
        </p:txBody>
      </p:sp>
      <p:sp>
        <p:nvSpPr>
          <p:cNvPr id="50" name="Arch answer text"/>
          <p:cNvSpPr txBox="1"/>
          <p:nvPr/>
        </p:nvSpPr>
        <p:spPr>
          <a:xfrm>
            <a:off x="7315200" y="3547872"/>
            <a:ext cx="1956816" cy="420624"/>
          </a:xfrm>
          <a:prstGeom prst="rect">
            <a:avLst/>
          </a:prstGeom>
          <a:noFill/>
        </p:spPr>
        <p:txBody>
          <a:bodyPr wrap="square" lIns="0" tIns="0" rIns="0" bIns="0" anchor="ctr">
            <a:noAutofit/>
          </a:bodyPr>
          <a:lstStyle/>
          <a:p>
            <a:pPr algn="ctr"/>
            <a:r>
              <a:rPr sz="1100" b="1">
                <a:solidFill>
                  <a:schemeClr val="bg1"/>
                </a:solidFill>
              </a:rPr>
              <a:t>Cited answer</a:t>
            </a:r>
          </a:p>
          <a:p>
            <a:pPr algn="ctr"/>
            <a:r>
              <a:rPr sz="1000" b="0">
                <a:solidFill>
                  <a:schemeClr val="bg1"/>
                </a:solidFill>
              </a:rPr>
              <a:t>grounded in 6 chunks</a:t>
            </a:r>
          </a:p>
        </p:txBody>
      </p:sp>
      <p:sp>
        <p:nvSpPr>
          <p:cNvPr id="51" name="Arch tools"/>
          <p:cNvSpPr/>
          <p:nvPr/>
        </p:nvSpPr>
        <p:spPr>
          <a:xfrm>
            <a:off x="9409176" y="3547872"/>
            <a:ext cx="2048256" cy="420624"/>
          </a:xfrm>
          <a:prstGeom prst="roundRect">
            <a:avLst>
              <a:gd name="adj" fmla="val 12000"/>
            </a:avLst>
          </a:prstGeom>
          <a:solidFill>
            <a:schemeClr val="accent4"/>
          </a:solidFill>
          <a:ln>
            <a:noFill/>
          </a:ln>
        </p:spPr>
        <p:txBody>
          <a:bodyPr rtlCol="0" anchor="ctr"/>
          <a:lstStyle/>
          <a:p>
            <a:pPr algn="ctr"/>
            <a:endParaRPr/>
          </a:p>
        </p:txBody>
      </p:sp>
      <p:sp>
        <p:nvSpPr>
          <p:cNvPr id="52" name="Arch tools text"/>
          <p:cNvSpPr txBox="1"/>
          <p:nvPr/>
        </p:nvSpPr>
        <p:spPr>
          <a:xfrm>
            <a:off x="9454896" y="3547872"/>
            <a:ext cx="1956816" cy="420624"/>
          </a:xfrm>
          <a:prstGeom prst="rect">
            <a:avLst/>
          </a:prstGeom>
          <a:noFill/>
        </p:spPr>
        <p:txBody>
          <a:bodyPr wrap="square" lIns="0" tIns="0" rIns="0" bIns="0" anchor="ctr">
            <a:noAutofit/>
          </a:bodyPr>
          <a:lstStyle/>
          <a:p>
            <a:pPr algn="ctr"/>
            <a:r>
              <a:rPr sz="1100" b="1">
                <a:solidFill>
                  <a:schemeClr val="bg1"/>
                </a:solidFill>
              </a:rPr>
              <a:t>Agent tools</a:t>
            </a:r>
          </a:p>
          <a:p>
            <a:pPr algn="ctr"/>
            <a:r>
              <a:rPr sz="1000" b="0">
                <a:solidFill>
                  <a:schemeClr val="bg1"/>
                </a:solidFill>
              </a:rPr>
              <a:t>calculator, .docx export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lIns="0" tIns="0" rIns="0" bIns="0" rtlCol="0"/>
          <a:lstStyle/>
          <a:p>
            <a:pPr marL="0" indent="0" algn="l">
              <a:buNone/>
            </a:pPr>
            <a:r>
              <a:rPr lang="en-US" sz="1200" b="1" kern="0" spc="200" dirty="0">
                <a:solidFill>
                  <a:schemeClr val="accent1"/>
                </a:solidFill>
              </a:rPr>
              <a:t>DATASET ENGINEERING AND PREPARATION</a:t>
            </a: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Dual corpus: 50K pairs and 5.6M chunks</a:t>
            </a:r>
            <a:endParaRPr lang="en-US" sz="3200" dirty="0"/>
          </a:p>
        </p:txBody>
      </p:sp>
      <p:sp>
        <p:nvSpPr>
          <p:cNvPr id="4" name="SFT heading"/>
          <p:cNvSpPr txBox="1"/>
          <p:nvPr/>
        </p:nvSpPr>
        <p:spPr>
          <a:xfrm>
            <a:off x="548640" y="1600200"/>
            <a:ext cx="3108960" cy="36576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Supervised fine-tuning corpus</a:t>
            </a:r>
            <a:endParaRPr lang="en-US" sz="1400" dirty="0"/>
          </a:p>
        </p:txBody>
      </p:sp>
      <p:sp>
        <p:nvSpPr>
          <p:cNvPr id="5" name="Tile raw"/>
          <p:cNvSpPr/>
          <p:nvPr/>
        </p:nvSpPr>
        <p:spPr>
          <a:xfrm>
            <a:off x="548640" y="2103120"/>
            <a:ext cx="1508760" cy="1188720"/>
          </a:xfrm>
          <a:prstGeom prst="roundRect">
            <a:avLst>
              <a:gd name="adj" fmla="val 4615"/>
            </a:avLst>
          </a:prstGeom>
          <a:solidFill>
            <a:schemeClr val="bg2"/>
          </a:solidFill>
          <a:ln/>
        </p:spPr>
      </p:sp>
      <p:sp>
        <p:nvSpPr>
          <p:cNvPr id="6" name="Tile raw value"/>
          <p:cNvSpPr txBox="1"/>
          <p:nvPr/>
        </p:nvSpPr>
        <p:spPr>
          <a:xfrm>
            <a:off x="667512" y="2212848"/>
            <a:ext cx="1280160" cy="502920"/>
          </a:xfrm>
          <a:prstGeom prst="rect">
            <a:avLst/>
          </a:prstGeom>
          <a:noFill/>
          <a:ln/>
        </p:spPr>
        <p:txBody>
          <a:bodyPr wrap="square" lIns="0" tIns="0" rIns="0" bIns="0" rtlCol="0" anchor="t"/>
          <a:lstStyle/>
          <a:p>
            <a:pPr marL="0" indent="0">
              <a:buNone/>
            </a:pPr>
            <a:r>
              <a:rPr lang="en-US" sz="2400" b="1" dirty="0">
                <a:solidFill>
                  <a:schemeClr val="accent1"/>
                </a:solidFill>
                <a:latin typeface="+mj-lt" pitchFamily="34" charset="0"/>
                <a:ea typeface="+mj-lt" pitchFamily="34" charset="-122"/>
                <a:cs typeface="+mj-lt" pitchFamily="34" charset="-120"/>
              </a:rPr>
              <a:t>192,000</a:t>
            </a:r>
            <a:endParaRPr lang="en-US" sz="2400" dirty="0"/>
          </a:p>
        </p:txBody>
      </p:sp>
      <p:sp>
        <p:nvSpPr>
          <p:cNvPr id="7" name="Tile raw label"/>
          <p:cNvSpPr txBox="1"/>
          <p:nvPr/>
        </p:nvSpPr>
        <p:spPr>
          <a:xfrm>
            <a:off x="667512" y="2743200"/>
            <a:ext cx="1280160" cy="475488"/>
          </a:xfrm>
          <a:prstGeom prst="rect">
            <a:avLst/>
          </a:prstGeom>
          <a:noFill/>
          <a:ln/>
        </p:spPr>
        <p:txBody>
          <a:bodyPr wrap="square" lIns="0" tIns="0" rIns="0" bIns="0" rtlCol="0" anchor="t"/>
          <a:lstStyle/>
          <a:p>
            <a:pPr marL="0" indent="0">
              <a:buNone/>
            </a:pPr>
            <a:r>
              <a:rPr lang="en-US" sz="1400" dirty="0">
                <a:solidFill>
                  <a:schemeClr val="tx1"/>
                </a:solidFill>
              </a:rPr>
              <a:t>raw pairs</a:t>
            </a:r>
            <a:endParaRPr lang="en-US" sz="1400" dirty="0"/>
          </a:p>
        </p:txBody>
      </p:sp>
      <p:sp>
        <p:nvSpPr>
          <p:cNvPr id="8" name="Tile curated"/>
          <p:cNvSpPr/>
          <p:nvPr/>
        </p:nvSpPr>
        <p:spPr>
          <a:xfrm>
            <a:off x="2148840" y="2103120"/>
            <a:ext cx="1508760" cy="1188720"/>
          </a:xfrm>
          <a:prstGeom prst="roundRect">
            <a:avLst>
              <a:gd name="adj" fmla="val 4615"/>
            </a:avLst>
          </a:prstGeom>
          <a:solidFill>
            <a:schemeClr val="tx1"/>
          </a:solidFill>
          <a:ln/>
        </p:spPr>
      </p:sp>
      <p:sp>
        <p:nvSpPr>
          <p:cNvPr id="9" name="Tile curated value"/>
          <p:cNvSpPr txBox="1"/>
          <p:nvPr/>
        </p:nvSpPr>
        <p:spPr>
          <a:xfrm>
            <a:off x="2267712" y="2212848"/>
            <a:ext cx="1280160" cy="502920"/>
          </a:xfrm>
          <a:prstGeom prst="rect">
            <a:avLst/>
          </a:prstGeom>
          <a:noFill/>
          <a:ln/>
        </p:spPr>
        <p:txBody>
          <a:bodyPr wrap="square" lIns="0" tIns="0" rIns="0" bIns="0" rtlCol="0" anchor="t"/>
          <a:lstStyle/>
          <a:p>
            <a:pPr marL="0" indent="0">
              <a:buNone/>
            </a:pPr>
            <a:r>
              <a:rPr lang="en-US" sz="2400" b="1" dirty="0">
                <a:solidFill>
                  <a:schemeClr val="accent2"/>
                </a:solidFill>
                <a:latin typeface="+mj-lt" pitchFamily="34" charset="0"/>
                <a:ea typeface="+mj-lt" pitchFamily="34" charset="-122"/>
                <a:cs typeface="+mj-lt" pitchFamily="34" charset="-120"/>
              </a:rPr>
              <a:t>50,000</a:t>
            </a:r>
            <a:endParaRPr lang="en-US" sz="2400" dirty="0"/>
          </a:p>
        </p:txBody>
      </p:sp>
      <p:sp>
        <p:nvSpPr>
          <p:cNvPr id="10" name="Tile curated label"/>
          <p:cNvSpPr txBox="1"/>
          <p:nvPr/>
        </p:nvSpPr>
        <p:spPr>
          <a:xfrm>
            <a:off x="2267712" y="2743200"/>
            <a:ext cx="1280160" cy="475488"/>
          </a:xfrm>
          <a:prstGeom prst="rect">
            <a:avLst/>
          </a:prstGeom>
          <a:noFill/>
          <a:ln/>
        </p:spPr>
        <p:txBody>
          <a:bodyPr wrap="square" lIns="0" tIns="0" rIns="0" bIns="0" rtlCol="0" anchor="t"/>
          <a:lstStyle/>
          <a:p>
            <a:pPr marL="0" indent="0">
              <a:buNone/>
            </a:pPr>
            <a:r>
              <a:rPr lang="en-US" sz="1400" dirty="0">
                <a:solidFill>
                  <a:schemeClr val="bg1"/>
                </a:solidFill>
              </a:rPr>
              <a:t>curated pairs</a:t>
            </a:r>
            <a:endParaRPr lang="en-US" sz="1400" dirty="0"/>
          </a:p>
        </p:txBody>
      </p:sp>
      <p:sp>
        <p:nvSpPr>
          <p:cNvPr id="11" name="SFT bullets"/>
          <p:cNvSpPr txBox="1"/>
          <p:nvPr/>
        </p:nvSpPr>
        <p:spPr>
          <a:xfrm>
            <a:off x="548640" y="3520440"/>
            <a:ext cx="3108960" cy="27432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tx1"/>
                </a:solidFill>
              </a:rPr>
              <a:t>Filtered to sequences of 4,096 tokens or fewer</a:t>
            </a:r>
            <a:endParaRPr lang="en-US" sz="1300" dirty="0"/>
          </a:p>
          <a:p>
            <a:pPr marL="203200" indent="-203200">
              <a:spcAft>
                <a:spcPts val="800"/>
              </a:spcAft>
              <a:buSzPct val="100000"/>
              <a:buChar char="•"/>
            </a:pPr>
            <a:r>
              <a:rPr lang="en-US" sz="1300" dirty="0">
                <a:solidFill>
                  <a:schemeClr val="tx1"/>
                </a:solidFill>
              </a:rPr>
              <a:t>Prefix-hash deduplication pruned 142K redundant or garbled records</a:t>
            </a:r>
            <a:endParaRPr lang="en-US" sz="1300" dirty="0"/>
          </a:p>
          <a:p>
            <a:pPr marL="203200" indent="-203200">
              <a:spcAft>
                <a:spcPts val="800"/>
              </a:spcAft>
              <a:buSzPct val="100000"/>
              <a:buChar char="•"/>
            </a:pPr>
            <a:r>
              <a:rPr lang="en-US" sz="1300" dirty="0">
                <a:solidFill>
                  <a:schemeClr val="tx1"/>
                </a:solidFill>
              </a:rPr>
              <a:t>Split: 47,500 train, 2,500 validation, 100 unseen test, with zero prompt overlap</a:t>
            </a:r>
            <a:endParaRPr lang="en-US" sz="1300" dirty="0"/>
          </a:p>
          <a:p>
            <a:pPr marL="203200" indent="-203200">
              <a:spcAft>
                <a:spcPts val="800"/>
              </a:spcAft>
              <a:buSzPct val="100000"/>
              <a:buChar char="•"/>
            </a:pPr>
            <a:r>
              <a:rPr lang="en-US" sz="1300" dirty="0">
                <a:solidFill>
                  <a:schemeClr val="tx1"/>
                </a:solidFill>
              </a:rPr>
              <a:t>Prompt tokens masked (label -100); gradients update only on response tokens</a:t>
            </a:r>
            <a:endParaRPr lang="en-US" sz="1300" dirty="0"/>
          </a:p>
        </p:txBody>
      </p:sp>
      <p:sp>
        <p:nvSpPr>
          <p:cNvPr id="12" name="RAG heading"/>
          <p:cNvSpPr txBox="1"/>
          <p:nvPr/>
        </p:nvSpPr>
        <p:spPr>
          <a:xfrm>
            <a:off x="3794760" y="1600200"/>
            <a:ext cx="3108960" cy="36576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Federated RAG knowledge base</a:t>
            </a:r>
            <a:endParaRPr lang="en-US" sz="1400" dirty="0"/>
          </a:p>
        </p:txBody>
      </p:sp>
      <p:sp>
        <p:nvSpPr>
          <p:cNvPr id="13" name="Tile total"/>
          <p:cNvSpPr/>
          <p:nvPr/>
        </p:nvSpPr>
        <p:spPr>
          <a:xfrm>
            <a:off x="3794760" y="2103120"/>
            <a:ext cx="3108960" cy="1188720"/>
          </a:xfrm>
          <a:prstGeom prst="roundRect">
            <a:avLst>
              <a:gd name="adj" fmla="val 4615"/>
            </a:avLst>
          </a:prstGeom>
          <a:solidFill>
            <a:schemeClr val="tx1"/>
          </a:solidFill>
          <a:ln/>
        </p:spPr>
      </p:sp>
      <p:sp>
        <p:nvSpPr>
          <p:cNvPr id="14" name="Tile total value"/>
          <p:cNvSpPr txBox="1"/>
          <p:nvPr/>
        </p:nvSpPr>
        <p:spPr>
          <a:xfrm>
            <a:off x="3977639" y="2212848"/>
            <a:ext cx="2743200" cy="502920"/>
          </a:xfrm>
          <a:prstGeom prst="rect">
            <a:avLst/>
          </a:prstGeom>
          <a:noFill/>
          <a:ln/>
        </p:spPr>
        <p:txBody>
          <a:bodyPr wrap="square" lIns="0" tIns="0" rIns="0" bIns="0" rtlCol="0" anchor="t"/>
          <a:lstStyle/>
          <a:p>
            <a:pPr marL="0" indent="0">
              <a:buNone/>
            </a:pPr>
            <a:r>
              <a:rPr lang="en-US" sz="2800" b="1" dirty="0">
                <a:solidFill>
                  <a:schemeClr val="accent2"/>
                </a:solidFill>
                <a:latin typeface="+mj-lt" pitchFamily="34" charset="0"/>
                <a:ea typeface="+mj-lt" pitchFamily="34" charset="-122"/>
                <a:cs typeface="+mj-lt" pitchFamily="34" charset="-120"/>
              </a:rPr>
              <a:t>5,647,872</a:t>
            </a:r>
            <a:endParaRPr lang="en-US" sz="2800" dirty="0"/>
          </a:p>
        </p:txBody>
      </p:sp>
      <p:sp>
        <p:nvSpPr>
          <p:cNvPr id="15" name="Tile total label"/>
          <p:cNvSpPr txBox="1"/>
          <p:nvPr/>
        </p:nvSpPr>
        <p:spPr>
          <a:xfrm>
            <a:off x="3977639" y="2743200"/>
            <a:ext cx="2743200" cy="475488"/>
          </a:xfrm>
          <a:prstGeom prst="rect">
            <a:avLst/>
          </a:prstGeom>
          <a:noFill/>
          <a:ln/>
        </p:spPr>
        <p:txBody>
          <a:bodyPr wrap="square" lIns="0" tIns="0" rIns="0" bIns="0" rtlCol="0" anchor="t"/>
          <a:lstStyle/>
          <a:p>
            <a:pPr marL="0" indent="0">
              <a:buNone/>
            </a:pPr>
            <a:r>
              <a:rPr lang="en-US" sz="1400" dirty="0">
                <a:solidFill>
                  <a:schemeClr val="bg1"/>
                </a:solidFill>
              </a:rPr>
              <a:t>indexed legal chunks</a:t>
            </a:r>
            <a:endParaRPr lang="en-US" sz="1400" dirty="0"/>
          </a:p>
        </p:txBody>
      </p:sp>
      <p:sp>
        <p:nvSpPr>
          <p:cNvPr id="16" name="Count 1"/>
          <p:cNvSpPr txBox="1"/>
          <p:nvPr/>
        </p:nvSpPr>
        <p:spPr>
          <a:xfrm>
            <a:off x="3794760" y="3474720"/>
            <a:ext cx="1097280" cy="457200"/>
          </a:xfrm>
          <a:prstGeom prst="rect">
            <a:avLst/>
          </a:prstGeom>
          <a:noFill/>
          <a:ln/>
        </p:spPr>
        <p:txBody>
          <a:bodyPr wrap="square" lIns="0" tIns="0" rIns="0" bIns="0" rtlCol="0" anchor="t"/>
          <a:lstStyle/>
          <a:p>
            <a:pPr marL="0" indent="0">
              <a:buNone/>
            </a:pPr>
            <a:r>
              <a:rPr lang="en-US" sz="1600" b="1" dirty="0">
                <a:solidFill>
                  <a:schemeClr val="accent1"/>
                </a:solidFill>
              </a:rPr>
              <a:t>5,002,082</a:t>
            </a:r>
            <a:endParaRPr lang="en-US" sz="1600" dirty="0"/>
          </a:p>
        </p:txBody>
      </p:sp>
      <p:sp>
        <p:nvSpPr>
          <p:cNvPr id="17" name="Count label 1"/>
          <p:cNvSpPr txBox="1"/>
          <p:nvPr/>
        </p:nvSpPr>
        <p:spPr>
          <a:xfrm>
            <a:off x="4937760" y="3474720"/>
            <a:ext cx="1965960" cy="548640"/>
          </a:xfrm>
          <a:prstGeom prst="rect">
            <a:avLst/>
          </a:prstGeom>
          <a:noFill/>
          <a:ln/>
        </p:spPr>
        <p:txBody>
          <a:bodyPr wrap="square" lIns="0" tIns="0" rIns="0" bIns="0" rtlCol="0" anchor="t"/>
          <a:lstStyle/>
          <a:p>
            <a:pPr marL="0" indent="0">
              <a:buNone/>
            </a:pPr>
            <a:r>
              <a:rPr lang="en-US" sz="1300" dirty="0">
                <a:solidFill>
                  <a:schemeClr val="tx1"/>
                </a:solidFill>
              </a:rPr>
              <a:t>High Court: Bombay, Delhi, Allahabad, Calcutta</a:t>
            </a:r>
            <a:endParaRPr lang="en-US" sz="1300" dirty="0"/>
          </a:p>
        </p:txBody>
      </p:sp>
      <p:sp>
        <p:nvSpPr>
          <p:cNvPr id="18" name="Count 2"/>
          <p:cNvSpPr txBox="1"/>
          <p:nvPr/>
        </p:nvSpPr>
        <p:spPr>
          <a:xfrm>
            <a:off x="3794760" y="4078224"/>
            <a:ext cx="1097280" cy="457200"/>
          </a:xfrm>
          <a:prstGeom prst="rect">
            <a:avLst/>
          </a:prstGeom>
          <a:noFill/>
          <a:ln/>
        </p:spPr>
        <p:txBody>
          <a:bodyPr wrap="square" lIns="0" tIns="0" rIns="0" bIns="0" rtlCol="0" anchor="t"/>
          <a:lstStyle/>
          <a:p>
            <a:pPr marL="0" indent="0">
              <a:buNone/>
            </a:pPr>
            <a:r>
              <a:rPr lang="en-US" sz="1600" b="1" dirty="0">
                <a:solidFill>
                  <a:schemeClr val="accent1"/>
                </a:solidFill>
              </a:rPr>
              <a:t>546,547</a:t>
            </a:r>
            <a:endParaRPr lang="en-US" sz="1600" dirty="0"/>
          </a:p>
        </p:txBody>
      </p:sp>
      <p:sp>
        <p:nvSpPr>
          <p:cNvPr id="19" name="Count label 2"/>
          <p:cNvSpPr txBox="1"/>
          <p:nvPr/>
        </p:nvSpPr>
        <p:spPr>
          <a:xfrm>
            <a:off x="4937760" y="4078224"/>
            <a:ext cx="1965960" cy="548640"/>
          </a:xfrm>
          <a:prstGeom prst="rect">
            <a:avLst/>
          </a:prstGeom>
          <a:noFill/>
          <a:ln/>
        </p:spPr>
        <p:txBody>
          <a:bodyPr wrap="square" lIns="0" tIns="0" rIns="0" bIns="0" rtlCol="0" anchor="t"/>
          <a:lstStyle/>
          <a:p>
            <a:pPr marL="0" indent="0">
              <a:buNone/>
            </a:pPr>
            <a:r>
              <a:rPr lang="en-US" sz="1300" dirty="0">
                <a:solidFill>
                  <a:schemeClr val="tx1"/>
                </a:solidFill>
              </a:rPr>
              <a:t>Supreme Court, 1950 to 2025</a:t>
            </a:r>
            <a:endParaRPr lang="en-US" sz="1300" dirty="0"/>
          </a:p>
        </p:txBody>
      </p:sp>
      <p:sp>
        <p:nvSpPr>
          <p:cNvPr id="20" name="Count 3"/>
          <p:cNvSpPr txBox="1"/>
          <p:nvPr/>
        </p:nvSpPr>
        <p:spPr>
          <a:xfrm>
            <a:off x="3794760" y="4681728"/>
            <a:ext cx="1097280" cy="457200"/>
          </a:xfrm>
          <a:prstGeom prst="rect">
            <a:avLst/>
          </a:prstGeom>
          <a:noFill/>
          <a:ln/>
        </p:spPr>
        <p:txBody>
          <a:bodyPr wrap="square" lIns="0" tIns="0" rIns="0" bIns="0" rtlCol="0" anchor="t"/>
          <a:lstStyle/>
          <a:p>
            <a:pPr marL="0" indent="0">
              <a:buNone/>
            </a:pPr>
            <a:r>
              <a:rPr lang="en-US" sz="1600" b="1" dirty="0">
                <a:solidFill>
                  <a:schemeClr val="accent1"/>
                </a:solidFill>
              </a:rPr>
              <a:t>99,243</a:t>
            </a:r>
            <a:endParaRPr lang="en-US" sz="1600" dirty="0"/>
          </a:p>
        </p:txBody>
      </p:sp>
      <p:sp>
        <p:nvSpPr>
          <p:cNvPr id="21" name="Count label 3"/>
          <p:cNvSpPr txBox="1"/>
          <p:nvPr/>
        </p:nvSpPr>
        <p:spPr>
          <a:xfrm>
            <a:off x="4937760" y="4681728"/>
            <a:ext cx="1965960" cy="548640"/>
          </a:xfrm>
          <a:prstGeom prst="rect">
            <a:avLst/>
          </a:prstGeom>
          <a:noFill/>
          <a:ln/>
        </p:spPr>
        <p:txBody>
          <a:bodyPr wrap="square" lIns="0" tIns="0" rIns="0" bIns="0" rtlCol="0" anchor="t"/>
          <a:lstStyle/>
          <a:p>
            <a:pPr marL="0" indent="0">
              <a:buNone/>
            </a:pPr>
            <a:r>
              <a:rPr lang="en-US" sz="1300" dirty="0">
                <a:solidFill>
                  <a:schemeClr val="tx1"/>
                </a:solidFill>
              </a:rPr>
              <a:t>Bare Act sections, indexed by Act, Chapter and Section</a:t>
            </a:r>
            <a:endParaRPr lang="en-US" sz="1300" dirty="0"/>
          </a:p>
        </p:txBody>
      </p:sp>
      <p:sp>
        <p:nvSpPr>
          <p:cNvPr id="22" name="RAG bullets"/>
          <p:cNvSpPr txBox="1"/>
          <p:nvPr/>
        </p:nvSpPr>
        <p:spPr>
          <a:xfrm>
            <a:off x="3794760" y="5440680"/>
            <a:ext cx="3108960" cy="8686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chemeClr val="tx1"/>
                </a:solidFill>
              </a:rPr>
              <a:t>LanceDB with 384-dim BGE-small dense embeddings</a:t>
            </a:r>
            <a:endParaRPr lang="en-US" sz="1300" dirty="0"/>
          </a:p>
          <a:p>
            <a:pPr marL="203200" indent="-203200">
              <a:spcAft>
                <a:spcPts val="800"/>
              </a:spcAft>
              <a:buSzPct val="100000"/>
              <a:buChar char="•"/>
            </a:pPr>
            <a:r>
              <a:rPr lang="en-US" sz="1300" dirty="0">
                <a:solidFill>
                  <a:schemeClr val="tx1"/>
                </a:solidFill>
              </a:rPr>
              <a:t>BM25 index for exact statutory matches</a:t>
            </a:r>
            <a:endParaRPr lang="en-US" sz="1300" dirty="0"/>
          </a:p>
        </p:txBody>
      </p:sp>
      <p:sp>
        <p:nvSpPr>
          <p:cNvPr id="25" name="Screenshot title 2"/>
          <p:cNvSpPr txBox="1"/>
          <p:nvPr/>
        </p:nvSpPr>
        <p:spPr>
          <a:xfrm>
            <a:off x="7159752" y="1600200"/>
            <a:ext cx="4480560"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Streamlit sidebar: corpus status and controls</a:t>
            </a:r>
            <a:endParaRPr lang="en-US" sz="1400" dirty="0"/>
          </a:p>
        </p:txBody>
      </p:sp>
      <p:sp>
        <p:nvSpPr>
          <p:cNvPr id="27"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pic>
        <p:nvPicPr>
          <p:cNvPr id="30" name="Sidebar knowledge base">
            <a:extLst>
              <a:ext uri="{FF2B5EF4-FFF2-40B4-BE49-F238E27FC236}">
                <a16:creationId xmlns:a16="http://schemas.microsoft.com/office/drawing/2014/main" id="{25D77B9B-4A63-6391-71B2-6D64A5A0D105}"/>
              </a:ext>
            </a:extLst>
          </p:cNvPr>
          <p:cNvPicPr>
            <a:picLocks noChangeAspect="1"/>
          </p:cNvPicPr>
          <p:nvPr/>
        </p:nvPicPr>
        <p:blipFill>
          <a:blip r:embed="rId3"/>
          <a:srcRect b="58527"/>
          <a:stretch>
            <a:fillRect/>
          </a:stretch>
        </p:blipFill>
        <p:spPr>
          <a:xfrm>
            <a:off x="7159752" y="1965960"/>
            <a:ext cx="2148840" cy="2750309"/>
          </a:xfrm>
          <a:prstGeom prst="rect">
            <a:avLst/>
          </a:prstGeom>
          <a:ln w="12700">
            <a:solidFill>
              <a:schemeClr val="accent6"/>
            </a:solidFill>
          </a:ln>
        </p:spPr>
      </p:pic>
      <p:pic>
        <p:nvPicPr>
          <p:cNvPr id="31" name="Sidebar controls"/>
          <p:cNvPicPr>
            <a:picLocks noChangeAspect="1"/>
          </p:cNvPicPr>
          <p:nvPr/>
        </p:nvPicPr>
        <p:blipFill>
          <a:blip r:embed="rId3"/>
          <a:srcRect t="44186"/>
          <a:stretch>
            <a:fillRect/>
          </a:stretch>
        </p:blipFill>
        <p:spPr>
          <a:xfrm>
            <a:off x="9491472" y="1965960"/>
            <a:ext cx="2148840" cy="3701351"/>
          </a:xfrm>
          <a:prstGeom prst="rect">
            <a:avLst/>
          </a:prstGeom>
          <a:ln w="12700">
            <a:solidFill>
              <a:schemeClr val="accent6"/>
            </a:solidFill>
          </a:ln>
        </p:spPr>
      </p:pic>
      <p:sp>
        <p:nvSpPr>
          <p:cNvPr id="32" name="Sidebar note card"/>
          <p:cNvSpPr/>
          <p:nvPr/>
        </p:nvSpPr>
        <p:spPr>
          <a:xfrm>
            <a:off x="7159752" y="4853429"/>
            <a:ext cx="2148840" cy="813881"/>
          </a:xfrm>
          <a:prstGeom prst="roundRect">
            <a:avLst>
              <a:gd name="adj" fmla="val 5000"/>
            </a:avLst>
          </a:prstGeom>
          <a:solidFill>
            <a:schemeClr val="bg2"/>
          </a:solidFill>
          <a:ln>
            <a:noFill/>
          </a:ln>
        </p:spPr>
        <p:txBody>
          <a:bodyPr rtlCol="0" anchor="ctr"/>
          <a:lstStyle/>
          <a:p>
            <a:pPr algn="ctr"/>
            <a:endParaRPr/>
          </a:p>
        </p:txBody>
      </p:sp>
      <p:sp>
        <p:nvSpPr>
          <p:cNvPr id="33" name="Sidebar note"/>
          <p:cNvSpPr txBox="1"/>
          <p:nvPr/>
        </p:nvSpPr>
        <p:spPr>
          <a:xfrm>
            <a:off x="7296912" y="4853429"/>
            <a:ext cx="1874519" cy="813881"/>
          </a:xfrm>
          <a:prstGeom prst="rect">
            <a:avLst/>
          </a:prstGeom>
          <a:noFill/>
        </p:spPr>
        <p:txBody>
          <a:bodyPr wrap="square" lIns="0" tIns="0" rIns="0" bIns="0" anchor="ctr">
            <a:noAutofit/>
          </a:bodyPr>
          <a:lstStyle/>
          <a:p>
            <a:r>
              <a:rPr sz="1200" b="0">
                <a:solidFill>
                  <a:schemeClr val="tx1"/>
                </a:solidFill>
              </a:rPr>
              <a:t>5.6M passages indexed, fine-tuned 8B model active, Tavily web fallback and agent tools enabled.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lIns="0" tIns="0" rIns="0" bIns="0" rtlCol="0"/>
          <a:lstStyle/>
          <a:p>
            <a:pPr marL="0" indent="0" algn="l">
              <a:buNone/>
            </a:pPr>
            <a:r>
              <a:rPr lang="en-US" sz="1200" b="1" kern="0" spc="200" dirty="0">
                <a:solidFill>
                  <a:schemeClr val="accent1"/>
                </a:solidFill>
              </a:rPr>
              <a:t>FINE-TUNING METHODOLOGY</a:t>
            </a: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RS-LoRA: parameter-efficient domain adaptation</a:t>
            </a:r>
            <a:endParaRPr lang="en-US" sz="3200" dirty="0"/>
          </a:p>
        </p:txBody>
      </p:sp>
      <p:sp>
        <p:nvSpPr>
          <p:cNvPr id="4" name="Formula card"/>
          <p:cNvSpPr/>
          <p:nvPr/>
        </p:nvSpPr>
        <p:spPr>
          <a:xfrm>
            <a:off x="548640" y="1600200"/>
            <a:ext cx="4114800" cy="4709160"/>
          </a:xfrm>
          <a:prstGeom prst="roundRect">
            <a:avLst>
              <a:gd name="adj" fmla="val 1446"/>
            </a:avLst>
          </a:prstGeom>
          <a:solidFill>
            <a:schemeClr val="tx1"/>
          </a:solidFill>
          <a:ln/>
        </p:spPr>
      </p:sp>
      <p:sp>
        <p:nvSpPr>
          <p:cNvPr id="5" name="Math label"/>
          <p:cNvSpPr txBox="1"/>
          <p:nvPr/>
        </p:nvSpPr>
        <p:spPr>
          <a:xfrm>
            <a:off x="777240" y="1801368"/>
            <a:ext cx="3657600" cy="274320"/>
          </a:xfrm>
          <a:prstGeom prst="rect">
            <a:avLst/>
          </a:prstGeom>
          <a:noFill/>
          <a:ln/>
        </p:spPr>
        <p:txBody>
          <a:bodyPr wrap="square" lIns="0" tIns="0" rIns="0" bIns="0" rtlCol="0" anchor="t"/>
          <a:lstStyle/>
          <a:p>
            <a:pPr marL="0" indent="0">
              <a:buNone/>
            </a:pPr>
            <a:r>
              <a:rPr lang="en-US" sz="1200" b="1" kern="0" spc="200" dirty="0">
                <a:solidFill>
                  <a:schemeClr val="accent2"/>
                </a:solidFill>
              </a:rPr>
              <a:t>THE MATHEMATICS</a:t>
            </a:r>
            <a:endParaRPr lang="en-US" sz="1200" dirty="0"/>
          </a:p>
        </p:txBody>
      </p:sp>
      <p:sp>
        <p:nvSpPr>
          <p:cNvPr id="6" name="Math title 1"/>
          <p:cNvSpPr txBox="1"/>
          <p:nvPr/>
        </p:nvSpPr>
        <p:spPr>
          <a:xfrm>
            <a:off x="777240" y="2240280"/>
            <a:ext cx="3657600" cy="256032"/>
          </a:xfrm>
          <a:prstGeom prst="rect">
            <a:avLst/>
          </a:prstGeom>
          <a:noFill/>
          <a:ln/>
        </p:spPr>
        <p:txBody>
          <a:bodyPr wrap="square" lIns="0" tIns="0" rIns="0" bIns="0" rtlCol="0" anchor="t"/>
          <a:lstStyle/>
          <a:p>
            <a:pPr marL="0" indent="0">
              <a:buNone/>
            </a:pPr>
            <a:r>
              <a:rPr lang="en-US" sz="1400" b="1" dirty="0">
                <a:solidFill>
                  <a:schemeClr val="bg2"/>
                </a:solidFill>
              </a:rPr>
              <a:t>Adapter forward pass</a:t>
            </a:r>
            <a:endParaRPr lang="en-US" sz="1400" dirty="0"/>
          </a:p>
        </p:txBody>
      </p:sp>
      <p:sp>
        <p:nvSpPr>
          <p:cNvPr id="7" name="Formula 1"/>
          <p:cNvSpPr txBox="1"/>
          <p:nvPr/>
        </p:nvSpPr>
        <p:spPr>
          <a:xfrm>
            <a:off x="777240" y="2514600"/>
            <a:ext cx="3657600" cy="384048"/>
          </a:xfrm>
          <a:prstGeom prst="rect">
            <a:avLst/>
          </a:prstGeom>
          <a:noFill/>
          <a:ln/>
        </p:spPr>
        <p:txBody>
          <a:bodyPr wrap="square" lIns="0" tIns="0" rIns="0" bIns="0" rtlCol="0" anchor="t"/>
          <a:lstStyle/>
          <a:p>
            <a:pPr marL="0" indent="0">
              <a:buNone/>
            </a:pPr>
            <a:r>
              <a:rPr lang="en-US" sz="1700" i="1" dirty="0">
                <a:solidFill>
                  <a:schemeClr val="accent2"/>
                </a:solidFill>
                <a:latin typeface="+mj-lt" pitchFamily="34" charset="0"/>
                <a:ea typeface="+mj-lt" pitchFamily="34" charset="-122"/>
                <a:cs typeface="+mj-lt" pitchFamily="34" charset="-120"/>
              </a:rPr>
              <a:t>h = W0·x + γ·(BA)·x</a:t>
            </a:r>
            <a:endParaRPr lang="en-US" sz="1700" dirty="0"/>
          </a:p>
        </p:txBody>
      </p:sp>
      <p:sp>
        <p:nvSpPr>
          <p:cNvPr id="8" name="Formula note 1"/>
          <p:cNvSpPr txBox="1"/>
          <p:nvPr/>
        </p:nvSpPr>
        <p:spPr>
          <a:xfrm>
            <a:off x="777240" y="2935224"/>
            <a:ext cx="3657600" cy="566928"/>
          </a:xfrm>
          <a:prstGeom prst="rect">
            <a:avLst/>
          </a:prstGeom>
          <a:noFill/>
          <a:ln/>
        </p:spPr>
        <p:txBody>
          <a:bodyPr wrap="square" lIns="0" tIns="0" rIns="0" bIns="0" rtlCol="0" anchor="t"/>
          <a:lstStyle/>
          <a:p>
            <a:pPr marL="0" indent="0">
              <a:buNone/>
            </a:pPr>
            <a:r>
              <a:rPr lang="en-US" sz="1200" dirty="0">
                <a:solidFill>
                  <a:schemeClr val="bg2"/>
                </a:solidFill>
              </a:rPr>
              <a:t>B (d×r) is zero-initialized; A (r×k) is Gaussian-initialized.</a:t>
            </a:r>
            <a:endParaRPr lang="en-US" sz="1200" dirty="0"/>
          </a:p>
        </p:txBody>
      </p:sp>
      <p:sp>
        <p:nvSpPr>
          <p:cNvPr id="9" name="Math title 2"/>
          <p:cNvSpPr txBox="1"/>
          <p:nvPr/>
        </p:nvSpPr>
        <p:spPr>
          <a:xfrm>
            <a:off x="777240" y="3566160"/>
            <a:ext cx="3657600" cy="256032"/>
          </a:xfrm>
          <a:prstGeom prst="rect">
            <a:avLst/>
          </a:prstGeom>
          <a:noFill/>
          <a:ln/>
        </p:spPr>
        <p:txBody>
          <a:bodyPr wrap="square" lIns="0" tIns="0" rIns="0" bIns="0" rtlCol="0" anchor="t"/>
          <a:lstStyle/>
          <a:p>
            <a:pPr marL="0" indent="0">
              <a:buNone/>
            </a:pPr>
            <a:r>
              <a:rPr lang="en-US" sz="1400" b="1" dirty="0">
                <a:solidFill>
                  <a:schemeClr val="bg2"/>
                </a:solidFill>
              </a:rPr>
              <a:t>Rank-stabilized scaling</a:t>
            </a:r>
            <a:endParaRPr lang="en-US" sz="1400" dirty="0"/>
          </a:p>
        </p:txBody>
      </p:sp>
      <p:sp>
        <p:nvSpPr>
          <p:cNvPr id="10" name="Formula 2"/>
          <p:cNvSpPr txBox="1"/>
          <p:nvPr/>
        </p:nvSpPr>
        <p:spPr>
          <a:xfrm>
            <a:off x="777240" y="3840480"/>
            <a:ext cx="3657600" cy="384048"/>
          </a:xfrm>
          <a:prstGeom prst="rect">
            <a:avLst/>
          </a:prstGeom>
          <a:noFill/>
          <a:ln/>
        </p:spPr>
        <p:txBody>
          <a:bodyPr wrap="square" lIns="0" tIns="0" rIns="0" bIns="0" rtlCol="0" anchor="t"/>
          <a:lstStyle/>
          <a:p>
            <a:pPr marL="0" indent="0">
              <a:buNone/>
            </a:pPr>
            <a:r>
              <a:rPr lang="en-US" sz="1700" i="1" dirty="0">
                <a:solidFill>
                  <a:schemeClr val="accent2"/>
                </a:solidFill>
                <a:latin typeface="+mj-lt" pitchFamily="34" charset="0"/>
                <a:ea typeface="+mj-lt" pitchFamily="34" charset="-122"/>
                <a:cs typeface="+mj-lt" pitchFamily="34" charset="-120"/>
              </a:rPr>
              <a:t>γ = α / √r</a:t>
            </a:r>
            <a:endParaRPr lang="en-US" sz="1700" dirty="0"/>
          </a:p>
        </p:txBody>
      </p:sp>
      <p:sp>
        <p:nvSpPr>
          <p:cNvPr id="11" name="Formula note 2"/>
          <p:cNvSpPr txBox="1"/>
          <p:nvPr/>
        </p:nvSpPr>
        <p:spPr>
          <a:xfrm>
            <a:off x="777240" y="4261104"/>
            <a:ext cx="3657600" cy="566928"/>
          </a:xfrm>
          <a:prstGeom prst="rect">
            <a:avLst/>
          </a:prstGeom>
          <a:noFill/>
          <a:ln/>
        </p:spPr>
        <p:txBody>
          <a:bodyPr wrap="square" lIns="0" tIns="0" rIns="0" bIns="0" rtlCol="0" anchor="t"/>
          <a:lstStyle/>
          <a:p>
            <a:pPr marL="0" indent="0">
              <a:buNone/>
            </a:pPr>
            <a:r>
              <a:rPr lang="en-US" sz="1200" dirty="0">
                <a:solidFill>
                  <a:schemeClr val="bg2"/>
                </a:solidFill>
              </a:rPr>
              <a:t>Standard LoRA uses α / r, which collapses gradient variance at higher rank. At r = 32, α = 64: γ ≈ 11.31.</a:t>
            </a:r>
            <a:endParaRPr lang="en-US" sz="1200" dirty="0"/>
          </a:p>
        </p:txBody>
      </p:sp>
      <p:sp>
        <p:nvSpPr>
          <p:cNvPr id="12" name="Math title 3"/>
          <p:cNvSpPr txBox="1"/>
          <p:nvPr/>
        </p:nvSpPr>
        <p:spPr>
          <a:xfrm>
            <a:off x="777240" y="4892040"/>
            <a:ext cx="3657600" cy="256032"/>
          </a:xfrm>
          <a:prstGeom prst="rect">
            <a:avLst/>
          </a:prstGeom>
          <a:noFill/>
          <a:ln/>
        </p:spPr>
        <p:txBody>
          <a:bodyPr wrap="square" lIns="0" tIns="0" rIns="0" bIns="0" rtlCol="0" anchor="t"/>
          <a:lstStyle/>
          <a:p>
            <a:pPr marL="0" indent="0">
              <a:buNone/>
            </a:pPr>
            <a:r>
              <a:rPr lang="en-US" sz="1400" b="1" dirty="0">
                <a:solidFill>
                  <a:schemeClr val="bg2"/>
                </a:solidFill>
              </a:rPr>
              <a:t>Training loss</a:t>
            </a:r>
            <a:endParaRPr lang="en-US" sz="1400" dirty="0"/>
          </a:p>
        </p:txBody>
      </p:sp>
      <p:sp>
        <p:nvSpPr>
          <p:cNvPr id="13" name="Formula 3"/>
          <p:cNvSpPr txBox="1"/>
          <p:nvPr/>
        </p:nvSpPr>
        <p:spPr>
          <a:xfrm>
            <a:off x="777240" y="5166360"/>
            <a:ext cx="3657600" cy="384048"/>
          </a:xfrm>
          <a:prstGeom prst="rect">
            <a:avLst/>
          </a:prstGeom>
          <a:noFill/>
          <a:ln/>
        </p:spPr>
        <p:txBody>
          <a:bodyPr wrap="square" lIns="0" tIns="0" rIns="0" bIns="0" rtlCol="0" anchor="t"/>
          <a:lstStyle/>
          <a:p>
            <a:pPr marL="0" indent="0">
              <a:buNone/>
            </a:pPr>
            <a:r>
              <a:rPr lang="en-US" sz="1700" i="1" dirty="0">
                <a:solidFill>
                  <a:schemeClr val="accent2"/>
                </a:solidFill>
                <a:latin typeface="+mj-lt" pitchFamily="34" charset="0"/>
                <a:ea typeface="+mj-lt" pitchFamily="34" charset="-122"/>
                <a:cs typeface="+mj-lt" pitchFamily="34" charset="-120"/>
              </a:rPr>
              <a:t>L = −(1/M) Σ log Pθ(yt | X, y&lt;t)</a:t>
            </a:r>
            <a:endParaRPr lang="en-US" sz="1700" dirty="0"/>
          </a:p>
        </p:txBody>
      </p:sp>
      <p:sp>
        <p:nvSpPr>
          <p:cNvPr id="14" name="Formula note 3"/>
          <p:cNvSpPr txBox="1"/>
          <p:nvPr/>
        </p:nvSpPr>
        <p:spPr>
          <a:xfrm>
            <a:off x="777240" y="5586984"/>
            <a:ext cx="3657600" cy="566928"/>
          </a:xfrm>
          <a:prstGeom prst="rect">
            <a:avLst/>
          </a:prstGeom>
          <a:noFill/>
          <a:ln/>
        </p:spPr>
        <p:txBody>
          <a:bodyPr wrap="square" lIns="0" tIns="0" rIns="0" bIns="0" rtlCol="0" anchor="t"/>
          <a:lstStyle/>
          <a:p>
            <a:pPr marL="0" indent="0">
              <a:buNone/>
            </a:pPr>
            <a:r>
              <a:rPr lang="en-US" sz="1200" dirty="0">
                <a:solidFill>
                  <a:schemeClr val="bg2"/>
                </a:solidFill>
              </a:rPr>
              <a:t>Cross-entropy over legal response tokens only; prompt tokens are masked.</a:t>
            </a:r>
            <a:endParaRPr lang="en-US" sz="1200" dirty="0"/>
          </a:p>
        </p:txBody>
      </p:sp>
      <p:sp>
        <p:nvSpPr>
          <p:cNvPr id="15" name="Config heading"/>
          <p:cNvSpPr txBox="1"/>
          <p:nvPr/>
        </p:nvSpPr>
        <p:spPr>
          <a:xfrm>
            <a:off x="4937760" y="1600200"/>
            <a:ext cx="6702552"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Training configuration</a:t>
            </a:r>
            <a:endParaRPr lang="en-US" sz="1800" dirty="0"/>
          </a:p>
        </p:txBody>
      </p:sp>
      <p:sp>
        <p:nvSpPr>
          <p:cNvPr id="16" name="Tile params"/>
          <p:cNvSpPr/>
          <p:nvPr/>
        </p:nvSpPr>
        <p:spPr>
          <a:xfrm>
            <a:off x="4937760" y="2103120"/>
            <a:ext cx="3259836" cy="1325880"/>
          </a:xfrm>
          <a:prstGeom prst="roundRect">
            <a:avLst>
              <a:gd name="adj" fmla="val 4615"/>
            </a:avLst>
          </a:prstGeom>
          <a:solidFill>
            <a:schemeClr val="bg2"/>
          </a:solidFill>
          <a:ln/>
        </p:spPr>
      </p:sp>
      <p:sp>
        <p:nvSpPr>
          <p:cNvPr id="17" name="Tile params value"/>
          <p:cNvSpPr txBox="1"/>
          <p:nvPr/>
        </p:nvSpPr>
        <p:spPr>
          <a:xfrm>
            <a:off x="5166360" y="2240280"/>
            <a:ext cx="2802636" cy="502920"/>
          </a:xfrm>
          <a:prstGeom prst="rect">
            <a:avLst/>
          </a:prstGeom>
          <a:noFill/>
          <a:ln/>
        </p:spPr>
        <p:txBody>
          <a:bodyPr wrap="square" lIns="0" tIns="0" rIns="0" bIns="0" rtlCol="0" anchor="t"/>
          <a:lstStyle/>
          <a:p>
            <a:pPr marL="0" indent="0">
              <a:buNone/>
            </a:pPr>
            <a:r>
              <a:rPr lang="en-US" sz="2800" b="1" dirty="0">
                <a:solidFill>
                  <a:schemeClr val="accent1"/>
                </a:solidFill>
                <a:latin typeface="+mj-lt" pitchFamily="34" charset="0"/>
                <a:ea typeface="+mj-lt" pitchFamily="34" charset="-122"/>
                <a:cs typeface="+mj-lt" pitchFamily="34" charset="-120"/>
              </a:rPr>
              <a:t>~32M</a:t>
            </a:r>
            <a:endParaRPr lang="en-US" sz="2800" dirty="0"/>
          </a:p>
        </p:txBody>
      </p:sp>
      <p:sp>
        <p:nvSpPr>
          <p:cNvPr id="18" name="Tile params label"/>
          <p:cNvSpPr txBox="1"/>
          <p:nvPr/>
        </p:nvSpPr>
        <p:spPr>
          <a:xfrm>
            <a:off x="5166360" y="2816352"/>
            <a:ext cx="2802636" cy="475488"/>
          </a:xfrm>
          <a:prstGeom prst="rect">
            <a:avLst/>
          </a:prstGeom>
          <a:noFill/>
          <a:ln/>
        </p:spPr>
        <p:txBody>
          <a:bodyPr wrap="square" lIns="0" tIns="0" rIns="0" bIns="0" rtlCol="0" anchor="t"/>
          <a:lstStyle/>
          <a:p>
            <a:pPr marL="0" indent="0">
              <a:buNone/>
            </a:pPr>
            <a:r>
              <a:rPr lang="en-US" sz="1400" dirty="0">
                <a:solidFill>
                  <a:schemeClr val="tx1"/>
                </a:solidFill>
              </a:rPr>
              <a:t>trainable parameters</a:t>
            </a:r>
            <a:endParaRPr lang="en-US" sz="1400" dirty="0"/>
          </a:p>
        </p:txBody>
      </p:sp>
      <p:sp>
        <p:nvSpPr>
          <p:cNvPr id="19" name="Tile projections"/>
          <p:cNvSpPr/>
          <p:nvPr/>
        </p:nvSpPr>
        <p:spPr>
          <a:xfrm>
            <a:off x="8380475" y="2103120"/>
            <a:ext cx="3259836" cy="1325880"/>
          </a:xfrm>
          <a:prstGeom prst="roundRect">
            <a:avLst>
              <a:gd name="adj" fmla="val 4615"/>
            </a:avLst>
          </a:prstGeom>
          <a:solidFill>
            <a:schemeClr val="tx1"/>
          </a:solidFill>
          <a:ln/>
        </p:spPr>
      </p:sp>
      <p:sp>
        <p:nvSpPr>
          <p:cNvPr id="20" name="Tile projections value"/>
          <p:cNvSpPr txBox="1"/>
          <p:nvPr/>
        </p:nvSpPr>
        <p:spPr>
          <a:xfrm>
            <a:off x="8609076" y="2240280"/>
            <a:ext cx="2802636" cy="502920"/>
          </a:xfrm>
          <a:prstGeom prst="rect">
            <a:avLst/>
          </a:prstGeom>
          <a:noFill/>
          <a:ln/>
        </p:spPr>
        <p:txBody>
          <a:bodyPr wrap="square" lIns="0" tIns="0" rIns="0" bIns="0" rtlCol="0" anchor="t"/>
          <a:lstStyle/>
          <a:p>
            <a:pPr marL="0" indent="0">
              <a:buNone/>
            </a:pPr>
            <a:r>
              <a:rPr lang="en-US" sz="2800" b="1" dirty="0">
                <a:solidFill>
                  <a:schemeClr val="accent2"/>
                </a:solidFill>
                <a:latin typeface="+mj-lt" pitchFamily="34" charset="0"/>
                <a:ea typeface="+mj-lt" pitchFamily="34" charset="-122"/>
                <a:cs typeface="+mj-lt" pitchFamily="34" charset="-120"/>
              </a:rPr>
              <a:t>7</a:t>
            </a:r>
            <a:endParaRPr lang="en-US" sz="2800" dirty="0"/>
          </a:p>
        </p:txBody>
      </p:sp>
      <p:sp>
        <p:nvSpPr>
          <p:cNvPr id="21" name="Tile projections label"/>
          <p:cNvSpPr txBox="1"/>
          <p:nvPr/>
        </p:nvSpPr>
        <p:spPr>
          <a:xfrm>
            <a:off x="8609076" y="2816352"/>
            <a:ext cx="2802636" cy="475488"/>
          </a:xfrm>
          <a:prstGeom prst="rect">
            <a:avLst/>
          </a:prstGeom>
          <a:noFill/>
          <a:ln/>
        </p:spPr>
        <p:txBody>
          <a:bodyPr wrap="square" lIns="0" tIns="0" rIns="0" bIns="0" rtlCol="0" anchor="t"/>
          <a:lstStyle/>
          <a:p>
            <a:pPr marL="0" indent="0">
              <a:buNone/>
            </a:pPr>
            <a:r>
              <a:rPr lang="en-US" sz="1400" dirty="0">
                <a:solidFill>
                  <a:schemeClr val="bg1"/>
                </a:solidFill>
              </a:rPr>
              <a:t>adapted projections</a:t>
            </a:r>
            <a:endParaRPr lang="en-US" sz="1400" dirty="0"/>
          </a:p>
        </p:txBody>
      </p:sp>
      <p:sp>
        <p:nvSpPr>
          <p:cNvPr id="22" name="Config bullets"/>
          <p:cNvSpPr txBox="1"/>
          <p:nvPr/>
        </p:nvSpPr>
        <p:spPr>
          <a:xfrm>
            <a:off x="4937760" y="3703320"/>
            <a:ext cx="6702552" cy="1691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Attention: Wq, Wk, Wv, Wo. MLP: Wgate, Wup, Wdown</a:t>
            </a:r>
            <a:endParaRPr lang="en-US" sz="1400" dirty="0"/>
          </a:p>
          <a:p>
            <a:pPr marL="203200" indent="-203200">
              <a:spcAft>
                <a:spcPts val="800"/>
              </a:spcAft>
              <a:buSzPct val="100000"/>
              <a:buChar char="•"/>
            </a:pPr>
            <a:r>
              <a:rPr lang="en-US" sz="1400" dirty="0">
                <a:solidFill>
                  <a:schemeClr val="tx1"/>
                </a:solidFill>
              </a:rPr>
              <a:t>99.2% of base weights stay frozen</a:t>
            </a:r>
            <a:endParaRPr lang="en-US" sz="1400" dirty="0"/>
          </a:p>
          <a:p>
            <a:pPr marL="203200" indent="-203200">
              <a:spcAft>
                <a:spcPts val="800"/>
              </a:spcAft>
              <a:buSzPct val="100000"/>
              <a:buChar char="•"/>
            </a:pPr>
            <a:r>
              <a:rPr lang="en-US" sz="1400" dirty="0">
                <a:solidFill>
                  <a:schemeClr val="tx1"/>
                </a:solidFill>
              </a:rPr>
              <a:t>Plaksha HPC cluster, NVIDIA RTX PRO 6000 Blackwell (MIG 2g.48gb, 48 GB VRAM)</a:t>
            </a:r>
            <a:endParaRPr lang="en-US" sz="1400" dirty="0"/>
          </a:p>
          <a:p>
            <a:pPr marL="203200" indent="-203200">
              <a:spcAft>
                <a:spcPts val="800"/>
              </a:spcAft>
              <a:buSzPct val="100000"/>
              <a:buChar char="•"/>
            </a:pPr>
            <a:r>
              <a:rPr lang="en-US" sz="1400" dirty="0">
                <a:solidFill>
                  <a:schemeClr val="tx1"/>
                </a:solidFill>
              </a:rPr>
              <a:t>bfloat16, AdamW, cosine LR schedule with warmup</a:t>
            </a:r>
            <a:endParaRPr lang="en-US" sz="1400" dirty="0"/>
          </a:p>
        </p:txBody>
      </p:sp>
      <p:sp>
        <p:nvSpPr>
          <p:cNvPr id="27"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
        <p:nvSpPr>
          <p:cNvPr id="28" name="Loss strip"/>
          <p:cNvSpPr/>
          <p:nvPr/>
        </p:nvSpPr>
        <p:spPr>
          <a:xfrm>
            <a:off x="4937760" y="5486400"/>
            <a:ext cx="6702552" cy="822960"/>
          </a:xfrm>
          <a:prstGeom prst="roundRect">
            <a:avLst>
              <a:gd name="adj" fmla="val 6000"/>
            </a:avLst>
          </a:prstGeom>
          <a:solidFill>
            <a:schemeClr val="tx1"/>
          </a:solidFill>
          <a:ln>
            <a:noFill/>
          </a:ln>
        </p:spPr>
        <p:txBody>
          <a:bodyPr rtlCol="0" anchor="ctr"/>
          <a:lstStyle/>
          <a:p>
            <a:pPr algn="ctr"/>
            <a:endParaRPr/>
          </a:p>
        </p:txBody>
      </p:sp>
      <p:sp>
        <p:nvSpPr>
          <p:cNvPr id="29" name="Loss value"/>
          <p:cNvSpPr txBox="1"/>
          <p:nvPr/>
        </p:nvSpPr>
        <p:spPr>
          <a:xfrm>
            <a:off x="5212080" y="5486400"/>
            <a:ext cx="2377440" cy="822960"/>
          </a:xfrm>
          <a:prstGeom prst="rect">
            <a:avLst/>
          </a:prstGeom>
          <a:noFill/>
        </p:spPr>
        <p:txBody>
          <a:bodyPr wrap="square" lIns="0" tIns="0" rIns="0" bIns="0" anchor="ctr">
            <a:noAutofit/>
          </a:bodyPr>
          <a:lstStyle/>
          <a:p>
            <a:r>
              <a:rPr sz="3000" b="1">
                <a:solidFill>
                  <a:schemeClr val="accent2"/>
                </a:solidFill>
                <a:latin typeface="+mj-lt"/>
              </a:rPr>
              <a:t>1.34 → 0.72</a:t>
            </a:r>
          </a:p>
        </p:txBody>
      </p:sp>
      <p:sp>
        <p:nvSpPr>
          <p:cNvPr id="30" name="Loss text"/>
          <p:cNvSpPr txBox="1"/>
          <p:nvPr/>
        </p:nvSpPr>
        <p:spPr>
          <a:xfrm>
            <a:off x="7772400" y="5486400"/>
            <a:ext cx="3593592" cy="822960"/>
          </a:xfrm>
          <a:prstGeom prst="rect">
            <a:avLst/>
          </a:prstGeom>
          <a:noFill/>
        </p:spPr>
        <p:txBody>
          <a:bodyPr wrap="square" lIns="0" tIns="0" rIns="0" bIns="0" anchor="ctr">
            <a:noAutofit/>
          </a:bodyPr>
          <a:lstStyle/>
          <a:p>
            <a:r>
              <a:rPr sz="1400" b="0">
                <a:solidFill>
                  <a:schemeClr val="bg1"/>
                </a:solidFill>
              </a:rPr>
              <a:t>Evaluation loss fell from 1.34 to 0.72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lIns="0" tIns="0" rIns="0" bIns="0" rtlCol="0"/>
          <a:lstStyle/>
          <a:p>
            <a:pPr marL="0" indent="0" algn="l">
              <a:buNone/>
            </a:pPr>
            <a:r>
              <a:rPr lang="en-US" sz="1200" b="1" kern="0" spc="200" dirty="0">
                <a:solidFill>
                  <a:schemeClr val="accent1"/>
                </a:solidFill>
              </a:rPr>
              <a:t>FEDERATED RETRIEVAL ARCHITECTURE</a:t>
            </a: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Four-stage hybrid retrieval pipeline</a:t>
            </a:r>
            <a:endParaRPr lang="en-US" sz="3200" dirty="0"/>
          </a:p>
        </p:txBody>
      </p:sp>
      <p:sp>
        <p:nvSpPr>
          <p:cNvPr id="26"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pic>
        <p:nvPicPr>
          <p:cNvPr id="30" name="Picture 29">
            <a:extLst>
              <a:ext uri="{FF2B5EF4-FFF2-40B4-BE49-F238E27FC236}">
                <a16:creationId xmlns:a16="http://schemas.microsoft.com/office/drawing/2014/main" id="{A715C97E-8C47-A0D4-738D-575BE5FCBDA3}"/>
              </a:ext>
            </a:extLst>
          </p:cNvPr>
          <p:cNvPicPr>
            <a:picLocks noChangeAspect="1"/>
          </p:cNvPicPr>
          <p:nvPr/>
        </p:nvPicPr>
        <p:blipFill>
          <a:blip r:embed="rId3"/>
          <a:srcRect l="4834" t="11576" r="1629" b="35708"/>
          <a:stretch>
            <a:fillRect/>
          </a:stretch>
        </p:blipFill>
        <p:spPr>
          <a:xfrm>
            <a:off x="548640" y="3310128"/>
            <a:ext cx="8385604" cy="2788920"/>
          </a:xfrm>
          <a:prstGeom prst="rect">
            <a:avLst/>
          </a:prstGeom>
          <a:ln w="12700">
            <a:solidFill>
              <a:schemeClr val="accent6"/>
            </a:solidFill>
          </a:ln>
        </p:spPr>
      </p:pic>
      <p:sp>
        <p:nvSpPr>
          <p:cNvPr id="31" name="Stage card 1"/>
          <p:cNvSpPr/>
          <p:nvPr/>
        </p:nvSpPr>
        <p:spPr>
          <a:xfrm>
            <a:off x="548640" y="1554480"/>
            <a:ext cx="2670048" cy="1645920"/>
          </a:xfrm>
          <a:prstGeom prst="roundRect">
            <a:avLst>
              <a:gd name="adj" fmla="val 4000"/>
            </a:avLst>
          </a:prstGeom>
          <a:solidFill>
            <a:schemeClr val="bg2"/>
          </a:solidFill>
          <a:ln>
            <a:noFill/>
          </a:ln>
        </p:spPr>
        <p:txBody>
          <a:bodyPr rtlCol="0" anchor="ctr"/>
          <a:lstStyle/>
          <a:p>
            <a:pPr algn="ctr"/>
            <a:endParaRPr/>
          </a:p>
        </p:txBody>
      </p:sp>
      <p:sp>
        <p:nvSpPr>
          <p:cNvPr id="32" name="Stage badge 1"/>
          <p:cNvSpPr/>
          <p:nvPr/>
        </p:nvSpPr>
        <p:spPr>
          <a:xfrm>
            <a:off x="685800" y="1691640"/>
            <a:ext cx="384048" cy="384048"/>
          </a:xfrm>
          <a:prstGeom prst="ellipse">
            <a:avLst/>
          </a:prstGeom>
          <a:solidFill>
            <a:schemeClr val="tx1"/>
          </a:solidFill>
          <a:ln>
            <a:noFill/>
          </a:ln>
        </p:spPr>
        <p:txBody>
          <a:bodyPr rtlCol="0" anchor="ctr"/>
          <a:lstStyle/>
          <a:p>
            <a:pPr algn="ctr"/>
            <a:endParaRPr/>
          </a:p>
        </p:txBody>
      </p:sp>
      <p:sp>
        <p:nvSpPr>
          <p:cNvPr id="33" name="Stage number 1"/>
          <p:cNvSpPr txBox="1"/>
          <p:nvPr/>
        </p:nvSpPr>
        <p:spPr>
          <a:xfrm>
            <a:off x="685800" y="1691640"/>
            <a:ext cx="384048" cy="384048"/>
          </a:xfrm>
          <a:prstGeom prst="rect">
            <a:avLst/>
          </a:prstGeom>
          <a:noFill/>
        </p:spPr>
        <p:txBody>
          <a:bodyPr wrap="square" lIns="0" tIns="0" rIns="0" bIns="0" anchor="ctr">
            <a:noAutofit/>
          </a:bodyPr>
          <a:lstStyle/>
          <a:p>
            <a:pPr algn="ctr"/>
            <a:r>
              <a:rPr sz="1600" b="1">
                <a:solidFill>
                  <a:schemeClr val="bg1"/>
                </a:solidFill>
              </a:rPr>
              <a:t>1</a:t>
            </a:r>
          </a:p>
        </p:txBody>
      </p:sp>
      <p:sp>
        <p:nvSpPr>
          <p:cNvPr id="34" name="Stage heading 1"/>
          <p:cNvSpPr txBox="1"/>
          <p:nvPr/>
        </p:nvSpPr>
        <p:spPr>
          <a:xfrm>
            <a:off x="1188719" y="1691640"/>
            <a:ext cx="1892807" cy="384048"/>
          </a:xfrm>
          <a:prstGeom prst="rect">
            <a:avLst/>
          </a:prstGeom>
          <a:noFill/>
        </p:spPr>
        <p:txBody>
          <a:bodyPr wrap="square" lIns="0" tIns="0" rIns="0" bIns="0" anchor="ctr">
            <a:noAutofit/>
          </a:bodyPr>
          <a:lstStyle/>
          <a:p>
            <a:r>
              <a:rPr sz="1400" b="1">
                <a:solidFill>
                  <a:schemeClr val="tx1"/>
                </a:solidFill>
                <a:latin typeface="+mj-lt"/>
              </a:rPr>
              <a:t>Intent router</a:t>
            </a:r>
          </a:p>
        </p:txBody>
      </p:sp>
      <p:sp>
        <p:nvSpPr>
          <p:cNvPr id="35" name="Stage text 1"/>
          <p:cNvSpPr txBox="1"/>
          <p:nvPr/>
        </p:nvSpPr>
        <p:spPr>
          <a:xfrm>
            <a:off x="685800" y="2176272"/>
            <a:ext cx="2395728" cy="1005840"/>
          </a:xfrm>
          <a:prstGeom prst="rect">
            <a:avLst/>
          </a:prstGeom>
          <a:noFill/>
        </p:spPr>
        <p:txBody>
          <a:bodyPr wrap="square" lIns="0" tIns="0" rIns="0" bIns="0" anchor="t">
            <a:noAutofit/>
          </a:bodyPr>
          <a:lstStyle/>
          <a:p>
            <a:r>
              <a:rPr sz="1200" b="0">
                <a:solidFill>
                  <a:schemeClr val="tx1"/>
                </a:solidFill>
              </a:rPr>
              <a:t>Regex heuristic (0 ms) sends general queries to WEB and statute lookups (Section, Article, Order) to LOCAL. An LLM fallback resolves ambiguous queries in under 300 ms.</a:t>
            </a:r>
          </a:p>
        </p:txBody>
      </p:sp>
      <p:sp>
        <p:nvSpPr>
          <p:cNvPr id="36" name="Stage card 2"/>
          <p:cNvSpPr/>
          <p:nvPr/>
        </p:nvSpPr>
        <p:spPr>
          <a:xfrm>
            <a:off x="3355848" y="1554480"/>
            <a:ext cx="2670048" cy="1645920"/>
          </a:xfrm>
          <a:prstGeom prst="roundRect">
            <a:avLst>
              <a:gd name="adj" fmla="val 4000"/>
            </a:avLst>
          </a:prstGeom>
          <a:solidFill>
            <a:schemeClr val="bg2"/>
          </a:solidFill>
          <a:ln>
            <a:noFill/>
          </a:ln>
        </p:spPr>
        <p:txBody>
          <a:bodyPr rtlCol="0" anchor="ctr"/>
          <a:lstStyle/>
          <a:p>
            <a:pPr algn="ctr"/>
            <a:endParaRPr/>
          </a:p>
        </p:txBody>
      </p:sp>
      <p:sp>
        <p:nvSpPr>
          <p:cNvPr id="37" name="Stage badge 2"/>
          <p:cNvSpPr/>
          <p:nvPr/>
        </p:nvSpPr>
        <p:spPr>
          <a:xfrm>
            <a:off x="3493008" y="1691640"/>
            <a:ext cx="384048" cy="384048"/>
          </a:xfrm>
          <a:prstGeom prst="ellipse">
            <a:avLst/>
          </a:prstGeom>
          <a:solidFill>
            <a:schemeClr val="tx1"/>
          </a:solidFill>
          <a:ln>
            <a:noFill/>
          </a:ln>
        </p:spPr>
        <p:txBody>
          <a:bodyPr rtlCol="0" anchor="ctr"/>
          <a:lstStyle/>
          <a:p>
            <a:pPr algn="ctr"/>
            <a:endParaRPr/>
          </a:p>
        </p:txBody>
      </p:sp>
      <p:sp>
        <p:nvSpPr>
          <p:cNvPr id="38" name="Stage number 2"/>
          <p:cNvSpPr txBox="1"/>
          <p:nvPr/>
        </p:nvSpPr>
        <p:spPr>
          <a:xfrm>
            <a:off x="3493008" y="1691640"/>
            <a:ext cx="384048" cy="384048"/>
          </a:xfrm>
          <a:prstGeom prst="rect">
            <a:avLst/>
          </a:prstGeom>
          <a:noFill/>
        </p:spPr>
        <p:txBody>
          <a:bodyPr wrap="square" lIns="0" tIns="0" rIns="0" bIns="0" anchor="ctr">
            <a:noAutofit/>
          </a:bodyPr>
          <a:lstStyle/>
          <a:p>
            <a:pPr algn="ctr"/>
            <a:r>
              <a:rPr sz="1600" b="1">
                <a:solidFill>
                  <a:schemeClr val="bg1"/>
                </a:solidFill>
              </a:rPr>
              <a:t>2</a:t>
            </a:r>
          </a:p>
        </p:txBody>
      </p:sp>
      <p:sp>
        <p:nvSpPr>
          <p:cNvPr id="39" name="Stage heading 2"/>
          <p:cNvSpPr txBox="1"/>
          <p:nvPr/>
        </p:nvSpPr>
        <p:spPr>
          <a:xfrm>
            <a:off x="3995928" y="1691640"/>
            <a:ext cx="1892807" cy="384048"/>
          </a:xfrm>
          <a:prstGeom prst="rect">
            <a:avLst/>
          </a:prstGeom>
          <a:noFill/>
        </p:spPr>
        <p:txBody>
          <a:bodyPr wrap="square" lIns="0" tIns="0" rIns="0" bIns="0" anchor="ctr">
            <a:noAutofit/>
          </a:bodyPr>
          <a:lstStyle/>
          <a:p>
            <a:r>
              <a:rPr sz="1400" b="1">
                <a:solidFill>
                  <a:schemeClr val="tx1"/>
                </a:solidFill>
                <a:latin typeface="+mj-lt"/>
              </a:rPr>
              <a:t>Dense retrieval</a:t>
            </a:r>
          </a:p>
        </p:txBody>
      </p:sp>
      <p:sp>
        <p:nvSpPr>
          <p:cNvPr id="40" name="Stage text 2"/>
          <p:cNvSpPr txBox="1"/>
          <p:nvPr/>
        </p:nvSpPr>
        <p:spPr>
          <a:xfrm>
            <a:off x="3493008" y="2176272"/>
            <a:ext cx="2395728" cy="1005840"/>
          </a:xfrm>
          <a:prstGeom prst="rect">
            <a:avLst/>
          </a:prstGeom>
          <a:noFill/>
        </p:spPr>
        <p:txBody>
          <a:bodyPr wrap="square" lIns="0" tIns="0" rIns="0" bIns="0" anchor="t">
            <a:noAutofit/>
          </a:bodyPr>
          <a:lstStyle/>
          <a:p>
            <a:r>
              <a:rPr sz="1200" b="0">
                <a:solidFill>
                  <a:schemeClr val="tx1"/>
                </a:solidFill>
              </a:rPr>
              <a:t>LanceDB columnar store searches 5.6M passages using 384-dimensional BGE-small embeddings.</a:t>
            </a:r>
          </a:p>
        </p:txBody>
      </p:sp>
      <p:sp>
        <p:nvSpPr>
          <p:cNvPr id="41" name="Stage card 3"/>
          <p:cNvSpPr/>
          <p:nvPr/>
        </p:nvSpPr>
        <p:spPr>
          <a:xfrm>
            <a:off x="6163055" y="1554480"/>
            <a:ext cx="2670048" cy="1645920"/>
          </a:xfrm>
          <a:prstGeom prst="roundRect">
            <a:avLst>
              <a:gd name="adj" fmla="val 4000"/>
            </a:avLst>
          </a:prstGeom>
          <a:solidFill>
            <a:schemeClr val="bg2"/>
          </a:solidFill>
          <a:ln>
            <a:noFill/>
          </a:ln>
        </p:spPr>
        <p:txBody>
          <a:bodyPr rtlCol="0" anchor="ctr"/>
          <a:lstStyle/>
          <a:p>
            <a:pPr algn="ctr"/>
            <a:endParaRPr/>
          </a:p>
        </p:txBody>
      </p:sp>
      <p:sp>
        <p:nvSpPr>
          <p:cNvPr id="42" name="Stage badge 3"/>
          <p:cNvSpPr/>
          <p:nvPr/>
        </p:nvSpPr>
        <p:spPr>
          <a:xfrm>
            <a:off x="6300216" y="1691640"/>
            <a:ext cx="384048" cy="384048"/>
          </a:xfrm>
          <a:prstGeom prst="ellipse">
            <a:avLst/>
          </a:prstGeom>
          <a:solidFill>
            <a:schemeClr val="tx1"/>
          </a:solidFill>
          <a:ln>
            <a:noFill/>
          </a:ln>
        </p:spPr>
        <p:txBody>
          <a:bodyPr rtlCol="0" anchor="ctr"/>
          <a:lstStyle/>
          <a:p>
            <a:pPr algn="ctr"/>
            <a:endParaRPr/>
          </a:p>
        </p:txBody>
      </p:sp>
      <p:sp>
        <p:nvSpPr>
          <p:cNvPr id="43" name="Stage number 3"/>
          <p:cNvSpPr txBox="1"/>
          <p:nvPr/>
        </p:nvSpPr>
        <p:spPr>
          <a:xfrm>
            <a:off x="6300216" y="1691640"/>
            <a:ext cx="384048" cy="384048"/>
          </a:xfrm>
          <a:prstGeom prst="rect">
            <a:avLst/>
          </a:prstGeom>
          <a:noFill/>
        </p:spPr>
        <p:txBody>
          <a:bodyPr wrap="square" lIns="0" tIns="0" rIns="0" bIns="0" anchor="ctr">
            <a:noAutofit/>
          </a:bodyPr>
          <a:lstStyle/>
          <a:p>
            <a:pPr algn="ctr"/>
            <a:r>
              <a:rPr sz="1600" b="1">
                <a:solidFill>
                  <a:schemeClr val="bg1"/>
                </a:solidFill>
              </a:rPr>
              <a:t>3</a:t>
            </a:r>
          </a:p>
        </p:txBody>
      </p:sp>
      <p:sp>
        <p:nvSpPr>
          <p:cNvPr id="44" name="Stage heading 3"/>
          <p:cNvSpPr txBox="1"/>
          <p:nvPr/>
        </p:nvSpPr>
        <p:spPr>
          <a:xfrm>
            <a:off x="6803136" y="1691640"/>
            <a:ext cx="1892807" cy="384048"/>
          </a:xfrm>
          <a:prstGeom prst="rect">
            <a:avLst/>
          </a:prstGeom>
          <a:noFill/>
        </p:spPr>
        <p:txBody>
          <a:bodyPr wrap="square" lIns="0" tIns="0" rIns="0" bIns="0" anchor="ctr">
            <a:noAutofit/>
          </a:bodyPr>
          <a:lstStyle/>
          <a:p>
            <a:r>
              <a:rPr sz="1400" b="1">
                <a:solidFill>
                  <a:schemeClr val="tx1"/>
                </a:solidFill>
                <a:latin typeface="+mj-lt"/>
              </a:rPr>
              <a:t>Sparse retrieval</a:t>
            </a:r>
          </a:p>
        </p:txBody>
      </p:sp>
      <p:sp>
        <p:nvSpPr>
          <p:cNvPr id="45" name="Stage text 3"/>
          <p:cNvSpPr txBox="1"/>
          <p:nvPr/>
        </p:nvSpPr>
        <p:spPr>
          <a:xfrm>
            <a:off x="6300216" y="2176272"/>
            <a:ext cx="2395728" cy="1005840"/>
          </a:xfrm>
          <a:prstGeom prst="rect">
            <a:avLst/>
          </a:prstGeom>
          <a:noFill/>
        </p:spPr>
        <p:txBody>
          <a:bodyPr wrap="square" lIns="0" tIns="0" rIns="0" bIns="0" anchor="t">
            <a:noAutofit/>
          </a:bodyPr>
          <a:lstStyle/>
          <a:p>
            <a:r>
              <a:rPr sz="1200" b="0">
                <a:solidFill>
                  <a:schemeClr val="tx1"/>
                </a:solidFill>
              </a:rPr>
              <a:t>BM25 inverted index captures exact citations such as Section 138 NI Act and Order 39 Rule 1 CPC, preventing semantic drift.</a:t>
            </a:r>
          </a:p>
        </p:txBody>
      </p:sp>
      <p:sp>
        <p:nvSpPr>
          <p:cNvPr id="46" name="Stage card 4"/>
          <p:cNvSpPr/>
          <p:nvPr/>
        </p:nvSpPr>
        <p:spPr>
          <a:xfrm>
            <a:off x="8970263" y="1554480"/>
            <a:ext cx="2670048" cy="1645920"/>
          </a:xfrm>
          <a:prstGeom prst="roundRect">
            <a:avLst>
              <a:gd name="adj" fmla="val 4000"/>
            </a:avLst>
          </a:prstGeom>
          <a:solidFill>
            <a:schemeClr val="bg2"/>
          </a:solidFill>
          <a:ln>
            <a:noFill/>
          </a:ln>
        </p:spPr>
        <p:txBody>
          <a:bodyPr rtlCol="0" anchor="ctr"/>
          <a:lstStyle/>
          <a:p>
            <a:pPr algn="ctr"/>
            <a:endParaRPr/>
          </a:p>
        </p:txBody>
      </p:sp>
      <p:sp>
        <p:nvSpPr>
          <p:cNvPr id="47" name="Stage badge 4"/>
          <p:cNvSpPr/>
          <p:nvPr/>
        </p:nvSpPr>
        <p:spPr>
          <a:xfrm>
            <a:off x="9107424" y="1691640"/>
            <a:ext cx="384048" cy="384048"/>
          </a:xfrm>
          <a:prstGeom prst="ellipse">
            <a:avLst/>
          </a:prstGeom>
          <a:solidFill>
            <a:schemeClr val="tx1"/>
          </a:solidFill>
          <a:ln>
            <a:noFill/>
          </a:ln>
        </p:spPr>
        <p:txBody>
          <a:bodyPr rtlCol="0" anchor="ctr"/>
          <a:lstStyle/>
          <a:p>
            <a:pPr algn="ctr"/>
            <a:endParaRPr/>
          </a:p>
        </p:txBody>
      </p:sp>
      <p:sp>
        <p:nvSpPr>
          <p:cNvPr id="48" name="Stage number 4"/>
          <p:cNvSpPr txBox="1"/>
          <p:nvPr/>
        </p:nvSpPr>
        <p:spPr>
          <a:xfrm>
            <a:off x="9107424" y="1691640"/>
            <a:ext cx="384048" cy="384048"/>
          </a:xfrm>
          <a:prstGeom prst="rect">
            <a:avLst/>
          </a:prstGeom>
          <a:noFill/>
        </p:spPr>
        <p:txBody>
          <a:bodyPr wrap="square" lIns="0" tIns="0" rIns="0" bIns="0" anchor="ctr">
            <a:noAutofit/>
          </a:bodyPr>
          <a:lstStyle/>
          <a:p>
            <a:pPr algn="ctr"/>
            <a:r>
              <a:rPr sz="1600" b="1">
                <a:solidFill>
                  <a:schemeClr val="bg1"/>
                </a:solidFill>
              </a:rPr>
              <a:t>4</a:t>
            </a:r>
          </a:p>
        </p:txBody>
      </p:sp>
      <p:sp>
        <p:nvSpPr>
          <p:cNvPr id="49" name="Stage heading 4"/>
          <p:cNvSpPr txBox="1"/>
          <p:nvPr/>
        </p:nvSpPr>
        <p:spPr>
          <a:xfrm>
            <a:off x="9610343" y="1691640"/>
            <a:ext cx="1892807" cy="384048"/>
          </a:xfrm>
          <a:prstGeom prst="rect">
            <a:avLst/>
          </a:prstGeom>
          <a:noFill/>
        </p:spPr>
        <p:txBody>
          <a:bodyPr wrap="square" lIns="0" tIns="0" rIns="0" bIns="0" anchor="ctr">
            <a:noAutofit/>
          </a:bodyPr>
          <a:lstStyle/>
          <a:p>
            <a:r>
              <a:rPr sz="1400" b="1">
                <a:solidFill>
                  <a:schemeClr val="tx1"/>
                </a:solidFill>
                <a:latin typeface="+mj-lt"/>
              </a:rPr>
              <a:t>Cross-encoder reranking</a:t>
            </a:r>
          </a:p>
        </p:txBody>
      </p:sp>
      <p:sp>
        <p:nvSpPr>
          <p:cNvPr id="50" name="Stage text 4"/>
          <p:cNvSpPr txBox="1"/>
          <p:nvPr/>
        </p:nvSpPr>
        <p:spPr>
          <a:xfrm>
            <a:off x="9107424" y="2176272"/>
            <a:ext cx="2395728" cy="1005840"/>
          </a:xfrm>
          <a:prstGeom prst="rect">
            <a:avLst/>
          </a:prstGeom>
          <a:noFill/>
        </p:spPr>
        <p:txBody>
          <a:bodyPr wrap="square" lIns="0" tIns="0" rIns="0" bIns="0" anchor="t">
            <a:noAutofit/>
          </a:bodyPr>
          <a:lstStyle/>
          <a:p>
            <a:r>
              <a:rPr sz="1200" b="0">
                <a:solidFill>
                  <a:schemeClr val="tx1"/>
                </a:solidFill>
              </a:rPr>
              <a:t>ms-marco-MiniLM-L-6-v2 scores full cross-attention over query-candidate pairs instead of bi-encoder cosine approximations.</a:t>
            </a:r>
          </a:p>
        </p:txBody>
      </p:sp>
      <p:sp>
        <p:nvSpPr>
          <p:cNvPr id="51" name="Screenshot caption 4"/>
          <p:cNvSpPr txBox="1"/>
          <p:nvPr/>
        </p:nvSpPr>
        <p:spPr>
          <a:xfrm>
            <a:off x="548640" y="6144768"/>
            <a:ext cx="8385604" cy="201168"/>
          </a:xfrm>
          <a:prstGeom prst="rect">
            <a:avLst/>
          </a:prstGeom>
          <a:noFill/>
        </p:spPr>
        <p:txBody>
          <a:bodyPr wrap="square" lIns="0" tIns="0" rIns="0" bIns="0" anchor="t">
            <a:noAutofit/>
          </a:bodyPr>
          <a:lstStyle/>
          <a:p>
            <a:r>
              <a:rPr sz="1000" b="0">
                <a:solidFill>
                  <a:schemeClr val="accent6"/>
                </a:solidFill>
              </a:rPr>
              <a:t>Routing decision and retrieval inspector</a:t>
            </a:r>
          </a:p>
        </p:txBody>
      </p:sp>
      <p:sp>
        <p:nvSpPr>
          <p:cNvPr id="52" name="Fallback card"/>
          <p:cNvSpPr/>
          <p:nvPr/>
        </p:nvSpPr>
        <p:spPr>
          <a:xfrm>
            <a:off x="9117124" y="3310128"/>
            <a:ext cx="2523187" cy="2788920"/>
          </a:xfrm>
          <a:prstGeom prst="roundRect">
            <a:avLst>
              <a:gd name="adj" fmla="val 4000"/>
            </a:avLst>
          </a:prstGeom>
          <a:solidFill>
            <a:schemeClr val="tx1"/>
          </a:solidFill>
          <a:ln>
            <a:noFill/>
          </a:ln>
        </p:spPr>
        <p:txBody>
          <a:bodyPr rtlCol="0" anchor="ctr"/>
          <a:lstStyle/>
          <a:p>
            <a:pPr algn="ctr"/>
            <a:endParaRPr/>
          </a:p>
        </p:txBody>
      </p:sp>
      <p:sp>
        <p:nvSpPr>
          <p:cNvPr id="53" name="Fallback text"/>
          <p:cNvSpPr txBox="1"/>
          <p:nvPr/>
        </p:nvSpPr>
        <p:spPr>
          <a:xfrm>
            <a:off x="9300004" y="3493008"/>
            <a:ext cx="2157427" cy="2423160"/>
          </a:xfrm>
          <a:prstGeom prst="rect">
            <a:avLst/>
          </a:prstGeom>
          <a:noFill/>
        </p:spPr>
        <p:txBody>
          <a:bodyPr wrap="square" lIns="0" tIns="0" rIns="0" bIns="0" anchor="t">
            <a:noAutofit/>
          </a:bodyPr>
          <a:lstStyle/>
          <a:p>
            <a:pPr>
              <a:spcAft>
                <a:spcPts val="600"/>
              </a:spcAft>
            </a:pPr>
            <a:r>
              <a:rPr sz="1600" b="1">
                <a:solidFill>
                  <a:schemeClr val="accent2"/>
                </a:solidFill>
                <a:latin typeface="+mj-lt"/>
              </a:rPr>
              <a:t>Dynamic web fallback</a:t>
            </a:r>
          </a:p>
          <a:p>
            <a:r>
              <a:rPr sz="1300" b="0">
                <a:solidFill>
                  <a:schemeClr val="bg1"/>
                </a:solidFill>
              </a:rPr>
              <a:t>If the top local rerank score is below the 0.5 logit threshold, a live Tavily search fetches current gazettes and legal events.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lIns="0" tIns="0" rIns="0" bIns="0" rtlCol="0"/>
          <a:lstStyle/>
          <a:p>
            <a:pPr marL="0" indent="0" algn="l">
              <a:buNone/>
            </a:pPr>
            <a:r>
              <a:rPr lang="en-US" sz="1200" b="1" kern="0" spc="200" dirty="0">
                <a:solidFill>
                  <a:schemeClr val="accent1"/>
                </a:solidFill>
              </a:rPr>
              <a:t>EMPIRICAL EVALUATION BENCHMARK</a:t>
            </a: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Benchmark: 100 strictly unseen legal questions</a:t>
            </a:r>
            <a:endParaRPr lang="en-US" sz="3200" dirty="0"/>
          </a:p>
        </p:txBody>
      </p:sp>
      <p:graphicFrame>
        <p:nvGraphicFramePr>
          <p:cNvPr id="6" name="Benchmark table"/>
          <p:cNvGraphicFramePr>
            <a:graphicFrameLocks noGrp="1"/>
          </p:cNvGraphicFramePr>
          <p:nvPr>
            <p:extLst>
              <p:ext uri="{D42A27DB-BD31-4B8C-83A1-F6EECF244321}">
                <p14:modId xmlns:p14="http://schemas.microsoft.com/office/powerpoint/2010/main" val="3959395248"/>
              </p:ext>
            </p:extLst>
          </p:nvPr>
        </p:nvGraphicFramePr>
        <p:xfrm>
          <a:off x="548640" y="1554480"/>
          <a:ext cx="11091672" cy="3191256"/>
        </p:xfrm>
        <a:graphic>
          <a:graphicData uri="http://schemas.openxmlformats.org/drawingml/2006/table">
            <a:tbl>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gridCol w="1033272">
                  <a:extLst>
                    <a:ext uri="{9D8B030D-6E8A-4147-A177-3AD203B41FA5}">
                      <a16:colId xmlns:a16="http://schemas.microsoft.com/office/drawing/2014/main" val="20009"/>
                    </a:ext>
                  </a:extLst>
                </a:gridCol>
              </a:tblGrid>
              <a:tr h="502920">
                <a:tc>
                  <a:txBody>
                    <a:bodyPr/>
                    <a:lstStyle/>
                    <a:p>
                      <a:pPr marL="0" indent="0" algn="l">
                        <a:buNone/>
                        <a:defRPr sz="1200"/>
                      </a:pPr>
                      <a:r>
                        <a:rPr lang="en-US" sz="1200" b="1" dirty="0">
                          <a:solidFill>
                            <a:schemeClr val="bg1"/>
                          </a:solidFill>
                        </a:rPr>
                        <a:t>Model</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PPL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Loss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ROUGE-2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BLEU-4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Cit. Recall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Cit. F1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Speed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Latency (↓)</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tc>
                  <a:txBody>
                    <a:bodyPr/>
                    <a:lstStyle/>
                    <a:p>
                      <a:pPr marL="0" indent="0" algn="ctr">
                        <a:buNone/>
                        <a:defRPr sz="1200"/>
                      </a:pPr>
                      <a:r>
                        <a:rPr lang="en-US" sz="1200" b="1" dirty="0">
                          <a:solidFill>
                            <a:schemeClr val="bg1"/>
                          </a:solidFill>
                        </a:rPr>
                        <a:t>Peak VRAM</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84048">
                <a:tc>
                  <a:txBody>
                    <a:bodyPr/>
                    <a:lstStyle/>
                    <a:p>
                      <a:pPr marL="0" indent="0" algn="l">
                        <a:buNone/>
                        <a:defRPr sz="1200"/>
                      </a:pPr>
                      <a:r>
                        <a:rPr lang="en-US" sz="1200" b="1" dirty="0">
                          <a:solidFill>
                            <a:schemeClr val="tx1"/>
                          </a:solidFill>
                        </a:rPr>
                        <a:t>Qwen3-VL-4B (Base)</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3.84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1.3442</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9.33%</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2.74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81.11%</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75.97%</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63.2 t/s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3.16s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10.70 GB</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lgn="l">
                        <a:buNone/>
                        <a:defRPr sz="1200"/>
                      </a:pPr>
                      <a:r>
                        <a:rPr lang="en-US" sz="1200" b="1" dirty="0">
                          <a:solidFill>
                            <a:schemeClr val="tx1"/>
                          </a:solidFill>
                        </a:rPr>
                        <a:t>Qwen3-VL-4B (1-Ep LoRA)</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2.16</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0.7702</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14.85%</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4.57</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78.34%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79.94%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33.0 t/s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5.48s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10.94 GB</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lgn="l">
                        <a:buNone/>
                        <a:defRPr sz="1200"/>
                      </a:pPr>
                      <a:r>
                        <a:rPr lang="en-US" sz="1200" b="1" dirty="0">
                          <a:solidFill>
                            <a:schemeClr val="tx1"/>
                          </a:solidFill>
                        </a:rPr>
                        <a:t>Qwen3-VL-4B (2-Ep LoRA)</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2.14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0.7592</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14.54%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4.34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78.52%</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76.60%</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32.5 t/s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5.62s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tc>
                  <a:txBody>
                    <a:bodyPr/>
                    <a:lstStyle/>
                    <a:p>
                      <a:pPr marL="0" indent="0" algn="ctr">
                        <a:buNone/>
                        <a:defRPr sz="1200"/>
                      </a:pPr>
                      <a:r>
                        <a:rPr lang="en-US" sz="1200" dirty="0">
                          <a:solidFill>
                            <a:schemeClr val="tx1"/>
                          </a:solidFill>
                        </a:rPr>
                        <a:t>10.94 GB</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lgn="l">
                        <a:buNone/>
                        <a:defRPr sz="1200"/>
                      </a:pPr>
                      <a:r>
                        <a:rPr lang="en-US" sz="1200" b="1" dirty="0"/>
                        <a:t>Qwen3-VL-4B (4-Ep </a:t>
                      </a:r>
                      <a:r>
                        <a:rPr lang="en-US" sz="1200" b="1" dirty="0" err="1"/>
                        <a:t>LoRA</a:t>
                      </a:r>
                      <a:r>
                        <a:rPr lang="en-US" sz="1200" b="1" dirty="0"/>
                        <a:t>)</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2.23</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0.8011</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14.57%</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4.42</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78.71%</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76.95%</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32.1 t/s</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t>5.64s</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a:defRPr sz="1200"/>
                      </a:pPr>
                      <a:r>
                        <a:rPr sz="1200"/>
                        <a:t>10.94 GB</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479851707"/>
                  </a:ext>
                </a:extLst>
              </a:tr>
              <a:tr h="384048">
                <a:tc>
                  <a:txBody>
                    <a:bodyPr/>
                    <a:lstStyle/>
                    <a:p>
                      <a:pPr marL="0" indent="0" algn="l">
                        <a:buNone/>
                        <a:defRPr sz="1200"/>
                      </a:pPr>
                      <a:r>
                        <a:rPr lang="en-US" sz="1200" b="1" dirty="0">
                          <a:solidFill>
                            <a:schemeClr val="tx1"/>
                          </a:solidFill>
                        </a:rPr>
                        <a:t>Qwen3-VL-8B (Base)</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3.63</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1.2884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9.52%</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2.90</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80.17%</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76.19%</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41.1 t/s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4.84s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18.77 GB</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lgn="l">
                        <a:buNone/>
                        <a:defRPr sz="1200"/>
                      </a:pPr>
                      <a:r>
                        <a:rPr lang="en-US" sz="1200" b="1" dirty="0">
                          <a:solidFill>
                            <a:schemeClr val="tx1"/>
                          </a:solidFill>
                        </a:rPr>
                        <a:t>Qwen3-VL-8B (Fine-Tuned)</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2.06</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0.7214</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13.98%</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4.11</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74.51%</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74.60%</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32.5 t/s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5.55s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tc>
                  <a:txBody>
                    <a:bodyPr/>
                    <a:lstStyle/>
                    <a:p>
                      <a:pPr marL="0" indent="0" algn="ctr">
                        <a:buNone/>
                        <a:defRPr sz="1200"/>
                      </a:pPr>
                      <a:r>
                        <a:rPr lang="en-US" sz="1200" b="1" dirty="0">
                          <a:solidFill>
                            <a:schemeClr val="tx1"/>
                          </a:solidFill>
                        </a:rPr>
                        <a:t>19.09 GB</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accent2"/>
                    </a:solidFill>
                  </a:tcPr>
                </a:tc>
                <a:extLst>
                  <a:ext uri="{0D108BD9-81ED-4DB2-BD59-A6C34878D82A}">
                    <a16:rowId xmlns:a16="http://schemas.microsoft.com/office/drawing/2014/main" val="10005"/>
                  </a:ext>
                </a:extLst>
              </a:tr>
              <a:tr h="384048">
                <a:tc>
                  <a:txBody>
                    <a:bodyPr/>
                    <a:lstStyle/>
                    <a:p>
                      <a:pPr marL="0" indent="0" algn="l">
                        <a:buNone/>
                        <a:defRPr sz="1200"/>
                      </a:pPr>
                      <a:r>
                        <a:rPr lang="en-US" sz="1200" b="1" dirty="0">
                          <a:solidFill>
                            <a:schemeClr val="tx1"/>
                          </a:solidFill>
                        </a:rPr>
                        <a:t>Gemini 3.7 Flash</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N/A (API)</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N/A (API)</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a:defRPr sz="1200"/>
                      </a:pPr>
                      <a:r>
                        <a:rPr sz="1200"/>
                        <a:t>10.91%</a:t>
                      </a:r>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2.87</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85.06%</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79.18%</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41.4 t/s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3.97s</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tc>
                  <a:txBody>
                    <a:bodyPr/>
                    <a:lstStyle/>
                    <a:p>
                      <a:pPr marL="0" indent="0" algn="ctr">
                        <a:buNone/>
                        <a:defRPr sz="1200"/>
                      </a:pPr>
                      <a:r>
                        <a:rPr lang="en-US" sz="1200" dirty="0">
                          <a:solidFill>
                            <a:schemeClr val="tx1"/>
                          </a:solidFill>
                        </a:rPr>
                        <a:t>0.00 GB</a:t>
                      </a:r>
                      <a:endParaRPr lang="en-US" sz="1200" dirty="0"/>
                    </a:p>
                  </a:txBody>
                  <a:tcPr marL="73152" marR="73152" marT="0"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Table footnote"/>
          <p:cNvSpPr txBox="1"/>
          <p:nvPr/>
        </p:nvSpPr>
        <p:spPr>
          <a:xfrm>
            <a:off x="548640" y="1309819"/>
            <a:ext cx="11091672" cy="274320"/>
          </a:xfrm>
          <a:prstGeom prst="rect">
            <a:avLst/>
          </a:prstGeom>
          <a:noFill/>
          <a:ln/>
        </p:spPr>
        <p:txBody>
          <a:bodyPr wrap="square" lIns="0" tIns="0" rIns="0" bIns="0" rtlCol="0" anchor="t"/>
          <a:lstStyle/>
          <a:p>
            <a:pPr marL="0" indent="0">
              <a:buNone/>
            </a:pPr>
            <a:r>
              <a:rPr lang="en-US" sz="1200" dirty="0">
                <a:solidFill>
                  <a:schemeClr val="accent6"/>
                </a:solidFill>
              </a:rPr>
              <a:t>All models evaluated on HPC node cn02 in bf16, except Gemini (cloud API).</a:t>
            </a:r>
            <a:endParaRPr lang="en-US" sz="1200" dirty="0"/>
          </a:p>
        </p:txBody>
      </p:sp>
      <p:sp>
        <p:nvSpPr>
          <p:cNvPr id="4" name="Finding tile 1"/>
          <p:cNvSpPr/>
          <p:nvPr/>
        </p:nvSpPr>
        <p:spPr>
          <a:xfrm>
            <a:off x="548640" y="4846320"/>
            <a:ext cx="3544824" cy="1463040"/>
          </a:xfrm>
          <a:prstGeom prst="roundRect">
            <a:avLst>
              <a:gd name="adj" fmla="val 3750"/>
            </a:avLst>
          </a:prstGeom>
          <a:solidFill>
            <a:schemeClr val="tx1"/>
          </a:solidFill>
          <a:ln/>
        </p:spPr>
      </p:sp>
      <p:sp>
        <p:nvSpPr>
          <p:cNvPr id="7" name="Finding tile 1 value"/>
          <p:cNvSpPr txBox="1"/>
          <p:nvPr/>
        </p:nvSpPr>
        <p:spPr>
          <a:xfrm>
            <a:off x="777240" y="4956048"/>
            <a:ext cx="3087624" cy="502920"/>
          </a:xfrm>
          <a:prstGeom prst="rect">
            <a:avLst/>
          </a:prstGeom>
          <a:noFill/>
          <a:ln/>
        </p:spPr>
        <p:txBody>
          <a:bodyPr wrap="square" lIns="0" tIns="0" rIns="0" bIns="0" rtlCol="0" anchor="t"/>
          <a:lstStyle/>
          <a:p>
            <a:pPr marL="0" indent="0">
              <a:buNone/>
            </a:pPr>
            <a:r>
              <a:rPr lang="en-US" sz="2800" b="1" dirty="0">
                <a:solidFill>
                  <a:schemeClr val="accent2"/>
                </a:solidFill>
                <a:latin typeface="+mj-lt" pitchFamily="34" charset="0"/>
                <a:ea typeface="+mj-lt" pitchFamily="34" charset="-122"/>
                <a:cs typeface="+mj-lt" pitchFamily="34" charset="-120"/>
              </a:rPr>
              <a:t>−44.3%</a:t>
            </a:r>
            <a:endParaRPr lang="en-US" sz="2800" dirty="0"/>
          </a:p>
        </p:txBody>
      </p:sp>
      <p:sp>
        <p:nvSpPr>
          <p:cNvPr id="8" name="Finding tile 1 label"/>
          <p:cNvSpPr txBox="1"/>
          <p:nvPr/>
        </p:nvSpPr>
        <p:spPr>
          <a:xfrm>
            <a:off x="777240" y="5486400"/>
            <a:ext cx="3087624" cy="749808"/>
          </a:xfrm>
          <a:prstGeom prst="rect">
            <a:avLst/>
          </a:prstGeom>
          <a:noFill/>
          <a:ln/>
        </p:spPr>
        <p:txBody>
          <a:bodyPr wrap="square" lIns="0" tIns="0" rIns="0" bIns="0" rtlCol="0" anchor="t"/>
          <a:lstStyle/>
          <a:p>
            <a:pPr marL="0" indent="0">
              <a:buNone/>
            </a:pPr>
            <a:r>
              <a:rPr lang="en-US" sz="1400" dirty="0">
                <a:solidFill>
                  <a:schemeClr val="bg1"/>
                </a:solidFill>
              </a:rPr>
              <a:t>Perplexity: 3.84 to 2.14 (4B), 3.63 to 2.06 (8B)</a:t>
            </a:r>
            <a:endParaRPr lang="en-US" sz="1400" dirty="0"/>
          </a:p>
        </p:txBody>
      </p:sp>
      <p:sp>
        <p:nvSpPr>
          <p:cNvPr id="9" name="Finding tile 2"/>
          <p:cNvSpPr/>
          <p:nvPr/>
        </p:nvSpPr>
        <p:spPr>
          <a:xfrm>
            <a:off x="4322064" y="4846320"/>
            <a:ext cx="3544824" cy="1463040"/>
          </a:xfrm>
          <a:prstGeom prst="roundRect">
            <a:avLst>
              <a:gd name="adj" fmla="val 3750"/>
            </a:avLst>
          </a:prstGeom>
          <a:solidFill>
            <a:schemeClr val="bg2"/>
          </a:solidFill>
          <a:ln/>
        </p:spPr>
      </p:sp>
      <p:sp>
        <p:nvSpPr>
          <p:cNvPr id="10" name="Finding tile 2 value"/>
          <p:cNvSpPr txBox="1"/>
          <p:nvPr/>
        </p:nvSpPr>
        <p:spPr>
          <a:xfrm>
            <a:off x="4550664" y="4956048"/>
            <a:ext cx="3087624" cy="502920"/>
          </a:xfrm>
          <a:prstGeom prst="rect">
            <a:avLst/>
          </a:prstGeom>
          <a:noFill/>
          <a:ln/>
        </p:spPr>
        <p:txBody>
          <a:bodyPr wrap="square" lIns="0" tIns="0" rIns="0" bIns="0" rtlCol="0" anchor="t"/>
          <a:lstStyle/>
          <a:p>
            <a:pPr marL="0" indent="0">
              <a:buNone/>
            </a:pPr>
            <a:r>
              <a:rPr lang="en-US" sz="2800" b="1" dirty="0">
                <a:solidFill>
                  <a:schemeClr val="accent1"/>
                </a:solidFill>
                <a:latin typeface="+mj-lt" pitchFamily="34" charset="0"/>
                <a:ea typeface="+mj-lt" pitchFamily="34" charset="-122"/>
                <a:cs typeface="+mj-lt" pitchFamily="34" charset="-120"/>
              </a:rPr>
              <a:t>+59.2%</a:t>
            </a:r>
            <a:endParaRPr lang="en-US" sz="2800" dirty="0"/>
          </a:p>
        </p:txBody>
      </p:sp>
      <p:sp>
        <p:nvSpPr>
          <p:cNvPr id="11" name="Finding tile 2 label"/>
          <p:cNvSpPr txBox="1"/>
          <p:nvPr/>
        </p:nvSpPr>
        <p:spPr>
          <a:xfrm>
            <a:off x="4550664" y="5486400"/>
            <a:ext cx="3087624" cy="749808"/>
          </a:xfrm>
          <a:prstGeom prst="rect">
            <a:avLst/>
          </a:prstGeom>
          <a:noFill/>
          <a:ln/>
        </p:spPr>
        <p:txBody>
          <a:bodyPr wrap="square" lIns="0" tIns="0" rIns="0" bIns="0" rtlCol="0" anchor="t"/>
          <a:lstStyle/>
          <a:p>
            <a:pPr marL="0" indent="0">
              <a:buNone/>
            </a:pPr>
            <a:r>
              <a:rPr lang="en-US" sz="1400" dirty="0">
                <a:solidFill>
                  <a:schemeClr val="tx1"/>
                </a:solidFill>
              </a:rPr>
              <a:t>ROUGE-2: 9.33% to 14.85% (4B), 9.52% to 13.98% (8B)</a:t>
            </a:r>
            <a:endParaRPr lang="en-US" sz="1400" dirty="0"/>
          </a:p>
        </p:txBody>
      </p:sp>
      <p:sp>
        <p:nvSpPr>
          <p:cNvPr id="12" name="Finding tile 3"/>
          <p:cNvSpPr/>
          <p:nvPr/>
        </p:nvSpPr>
        <p:spPr>
          <a:xfrm>
            <a:off x="8095488" y="4846320"/>
            <a:ext cx="3544824" cy="1463040"/>
          </a:xfrm>
          <a:prstGeom prst="roundRect">
            <a:avLst>
              <a:gd name="adj" fmla="val 3750"/>
            </a:avLst>
          </a:prstGeom>
          <a:solidFill>
            <a:schemeClr val="bg2"/>
          </a:solidFill>
          <a:ln/>
        </p:spPr>
      </p:sp>
      <p:sp>
        <p:nvSpPr>
          <p:cNvPr id="13" name="Finding tile 3 value"/>
          <p:cNvSpPr txBox="1"/>
          <p:nvPr/>
        </p:nvSpPr>
        <p:spPr>
          <a:xfrm>
            <a:off x="8324088" y="4956048"/>
            <a:ext cx="3087624" cy="502920"/>
          </a:xfrm>
          <a:prstGeom prst="rect">
            <a:avLst/>
          </a:prstGeom>
          <a:noFill/>
          <a:ln/>
        </p:spPr>
        <p:txBody>
          <a:bodyPr wrap="square" lIns="0" tIns="0" rIns="0" bIns="0" rtlCol="0" anchor="t"/>
          <a:lstStyle/>
          <a:p>
            <a:pPr marL="0" indent="0">
              <a:buNone/>
            </a:pPr>
            <a:r>
              <a:rPr lang="en-US" sz="2800" b="1" dirty="0">
                <a:solidFill>
                  <a:schemeClr val="accent1"/>
                </a:solidFill>
                <a:latin typeface="+mj-lt" pitchFamily="34" charset="0"/>
                <a:ea typeface="+mj-lt" pitchFamily="34" charset="-122"/>
                <a:cs typeface="+mj-lt" pitchFamily="34" charset="-120"/>
              </a:rPr>
              <a:t>+66.8%</a:t>
            </a:r>
            <a:endParaRPr lang="en-US" sz="2800" dirty="0"/>
          </a:p>
        </p:txBody>
      </p:sp>
      <p:sp>
        <p:nvSpPr>
          <p:cNvPr id="14" name="Finding tile 3 label"/>
          <p:cNvSpPr txBox="1"/>
          <p:nvPr/>
        </p:nvSpPr>
        <p:spPr>
          <a:xfrm>
            <a:off x="8324088" y="5486400"/>
            <a:ext cx="3087624" cy="749808"/>
          </a:xfrm>
          <a:prstGeom prst="rect">
            <a:avLst/>
          </a:prstGeom>
          <a:noFill/>
          <a:ln/>
        </p:spPr>
        <p:txBody>
          <a:bodyPr wrap="square" lIns="0" tIns="0" rIns="0" bIns="0" rtlCol="0" anchor="t"/>
          <a:lstStyle/>
          <a:p>
            <a:pPr marL="0" indent="0">
              <a:buNone/>
            </a:pPr>
            <a:r>
              <a:rPr lang="en-US" sz="1400" dirty="0">
                <a:solidFill>
                  <a:schemeClr val="tx1"/>
                </a:solidFill>
              </a:rPr>
              <a:t>BLEU-4: 2.74 to 4.57 (4B), 2.90 to 4.11 (8B)</a:t>
            </a:r>
            <a:endParaRPr lang="en-US" sz="14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lIns="0" tIns="0" rIns="0" bIns="0" rtlCol="0"/>
          <a:lstStyle/>
          <a:p>
            <a:pPr marL="0" indent="0" algn="l">
              <a:buNone/>
            </a:pPr>
            <a:r>
              <a:rPr lang="en-US" sz="1200" b="1" kern="0" spc="200" dirty="0">
                <a:solidFill>
                  <a:schemeClr val="accent1"/>
                </a:solidFill>
              </a:rPr>
              <a:t>AGENTIC SYNTHESIS AND DOCUMENT COMPILATION</a:t>
            </a: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Autonomous agent and Word compilation</a:t>
            </a:r>
            <a:endParaRPr lang="en-US" sz="3200" dirty="0"/>
          </a:p>
        </p:txBody>
      </p:sp>
      <p:sp>
        <p:nvSpPr>
          <p:cNvPr id="4" name="Agent card 1"/>
          <p:cNvSpPr/>
          <p:nvPr/>
        </p:nvSpPr>
        <p:spPr>
          <a:xfrm>
            <a:off x="6619830" y="1554480"/>
            <a:ext cx="2441660" cy="1536192"/>
          </a:xfrm>
          <a:prstGeom prst="roundRect">
            <a:avLst>
              <a:gd name="adj" fmla="val 3158"/>
            </a:avLst>
          </a:prstGeom>
          <a:solidFill>
            <a:schemeClr val="bg2"/>
          </a:solidFill>
          <a:ln/>
        </p:spPr>
      </p:sp>
      <p:sp>
        <p:nvSpPr>
          <p:cNvPr id="5" name="Agent heading 1"/>
          <p:cNvSpPr txBox="1"/>
          <p:nvPr/>
        </p:nvSpPr>
        <p:spPr>
          <a:xfrm>
            <a:off x="6784422" y="1682495"/>
            <a:ext cx="2112476" cy="45720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Reasoning separated from rendering</a:t>
            </a:r>
            <a:endParaRPr lang="en-US" sz="1400" dirty="0"/>
          </a:p>
        </p:txBody>
      </p:sp>
      <p:sp>
        <p:nvSpPr>
          <p:cNvPr id="6" name="Agent text 1"/>
          <p:cNvSpPr txBox="1"/>
          <p:nvPr/>
        </p:nvSpPr>
        <p:spPr>
          <a:xfrm>
            <a:off x="6784422" y="2157984"/>
            <a:ext cx="2112476" cy="841248"/>
          </a:xfrm>
          <a:prstGeom prst="rect">
            <a:avLst/>
          </a:prstGeom>
          <a:noFill/>
          <a:ln/>
        </p:spPr>
        <p:txBody>
          <a:bodyPr wrap="square" lIns="0" tIns="0" rIns="0" bIns="0" rtlCol="0" anchor="t"/>
          <a:lstStyle/>
          <a:p>
            <a:pPr marL="0" indent="0">
              <a:buNone/>
            </a:pPr>
            <a:r>
              <a:rPr lang="en-US" sz="1200" dirty="0">
                <a:solidFill>
                  <a:schemeClr val="tx1"/>
                </a:solidFill>
              </a:rPr>
              <a:t>The LLM reasons over statutory evidence and emits structured JSON tool calls. Rendering and arithmetic run outside the model.</a:t>
            </a:r>
            <a:endParaRPr lang="en-US" sz="1200" dirty="0"/>
          </a:p>
        </p:txBody>
      </p:sp>
      <p:sp>
        <p:nvSpPr>
          <p:cNvPr id="7" name="Agent card 2"/>
          <p:cNvSpPr/>
          <p:nvPr/>
        </p:nvSpPr>
        <p:spPr>
          <a:xfrm>
            <a:off x="9198651" y="1554480"/>
            <a:ext cx="2441660" cy="1536192"/>
          </a:xfrm>
          <a:prstGeom prst="roundRect">
            <a:avLst>
              <a:gd name="adj" fmla="val 3158"/>
            </a:avLst>
          </a:prstGeom>
          <a:solidFill>
            <a:schemeClr val="bg2"/>
          </a:solidFill>
          <a:ln/>
        </p:spPr>
      </p:sp>
      <p:sp>
        <p:nvSpPr>
          <p:cNvPr id="8" name="Agent heading 2"/>
          <p:cNvSpPr txBox="1"/>
          <p:nvPr/>
        </p:nvSpPr>
        <p:spPr>
          <a:xfrm>
            <a:off x="9363243" y="1682495"/>
            <a:ext cx="2112476" cy="45720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Deterministic calculator</a:t>
            </a:r>
            <a:endParaRPr lang="en-US" sz="1400" dirty="0"/>
          </a:p>
        </p:txBody>
      </p:sp>
      <p:sp>
        <p:nvSpPr>
          <p:cNvPr id="9" name="Agent text 2"/>
          <p:cNvSpPr txBox="1"/>
          <p:nvPr/>
        </p:nvSpPr>
        <p:spPr>
          <a:xfrm>
            <a:off x="9363243" y="2011680"/>
            <a:ext cx="2112476" cy="987551"/>
          </a:xfrm>
          <a:prstGeom prst="rect">
            <a:avLst/>
          </a:prstGeom>
          <a:noFill/>
          <a:ln/>
        </p:spPr>
        <p:txBody>
          <a:bodyPr wrap="square" lIns="0" tIns="0" rIns="0" bIns="0" rtlCol="0" anchor="t"/>
          <a:lstStyle/>
          <a:p>
            <a:pPr marL="0" indent="0">
              <a:buNone/>
            </a:pPr>
            <a:r>
              <a:rPr lang="en-US" sz="1200" dirty="0">
                <a:solidFill>
                  <a:schemeClr val="tx1"/>
                </a:solidFill>
              </a:rPr>
              <a:t>Computes damages, Section 34 CPC interest (18% p.a.) and limitation timelines with exact arithmetic.</a:t>
            </a:r>
            <a:endParaRPr lang="en-US" sz="1200" dirty="0"/>
          </a:p>
        </p:txBody>
      </p:sp>
      <p:sp>
        <p:nvSpPr>
          <p:cNvPr id="10" name="Agent card 3"/>
          <p:cNvSpPr/>
          <p:nvPr/>
        </p:nvSpPr>
        <p:spPr>
          <a:xfrm>
            <a:off x="6619830" y="3227832"/>
            <a:ext cx="2441660" cy="1536192"/>
          </a:xfrm>
          <a:prstGeom prst="roundRect">
            <a:avLst>
              <a:gd name="adj" fmla="val 3158"/>
            </a:avLst>
          </a:prstGeom>
          <a:solidFill>
            <a:schemeClr val="bg2"/>
          </a:solidFill>
          <a:ln/>
        </p:spPr>
      </p:sp>
      <p:sp>
        <p:nvSpPr>
          <p:cNvPr id="11" name="Agent heading 3"/>
          <p:cNvSpPr txBox="1"/>
          <p:nvPr/>
        </p:nvSpPr>
        <p:spPr>
          <a:xfrm>
            <a:off x="6784422" y="3355848"/>
            <a:ext cx="2112476" cy="45720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Word document compiler</a:t>
            </a:r>
            <a:endParaRPr lang="en-US" sz="1400" dirty="0"/>
          </a:p>
        </p:txBody>
      </p:sp>
      <p:sp>
        <p:nvSpPr>
          <p:cNvPr id="12" name="Agent text 3"/>
          <p:cNvSpPr txBox="1"/>
          <p:nvPr/>
        </p:nvSpPr>
        <p:spPr>
          <a:xfrm>
            <a:off x="6784422" y="3685031"/>
            <a:ext cx="2112476" cy="987551"/>
          </a:xfrm>
          <a:prstGeom prst="rect">
            <a:avLst/>
          </a:prstGeom>
          <a:noFill/>
          <a:ln/>
        </p:spPr>
        <p:txBody>
          <a:bodyPr wrap="square" lIns="0" tIns="0" rIns="0" bIns="0" rtlCol="0" anchor="t"/>
          <a:lstStyle/>
          <a:p>
            <a:pPr marL="0" indent="0">
              <a:buNone/>
            </a:pPr>
            <a:r>
              <a:rPr lang="en-US" sz="1200" dirty="0">
                <a:solidFill>
                  <a:schemeClr val="tx1"/>
                </a:solidFill>
              </a:rPr>
              <a:t>Exports multi-page .docx files with court letterhead, chronological facts, statutory sections and advocate signature blocks.</a:t>
            </a:r>
            <a:endParaRPr lang="en-US" sz="1200" dirty="0"/>
          </a:p>
        </p:txBody>
      </p:sp>
      <p:sp>
        <p:nvSpPr>
          <p:cNvPr id="13" name="Agent card 4"/>
          <p:cNvSpPr/>
          <p:nvPr/>
        </p:nvSpPr>
        <p:spPr>
          <a:xfrm>
            <a:off x="9198651" y="3227832"/>
            <a:ext cx="2441660" cy="1536192"/>
          </a:xfrm>
          <a:prstGeom prst="roundRect">
            <a:avLst>
              <a:gd name="adj" fmla="val 3158"/>
            </a:avLst>
          </a:prstGeom>
          <a:solidFill>
            <a:schemeClr val="bg2"/>
          </a:solidFill>
          <a:ln/>
        </p:spPr>
      </p:sp>
      <p:sp>
        <p:nvSpPr>
          <p:cNvPr id="14" name="Agent heading 4"/>
          <p:cNvSpPr txBox="1"/>
          <p:nvPr/>
        </p:nvSpPr>
        <p:spPr>
          <a:xfrm>
            <a:off x="9363243" y="3355848"/>
            <a:ext cx="2112476" cy="45720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Supported formats</a:t>
            </a:r>
            <a:endParaRPr lang="en-US" sz="1400" dirty="0"/>
          </a:p>
        </p:txBody>
      </p:sp>
      <p:sp>
        <p:nvSpPr>
          <p:cNvPr id="15" name="Agent text 4"/>
          <p:cNvSpPr txBox="1"/>
          <p:nvPr/>
        </p:nvSpPr>
        <p:spPr>
          <a:xfrm>
            <a:off x="9363243" y="3685031"/>
            <a:ext cx="2112476" cy="987551"/>
          </a:xfrm>
          <a:prstGeom prst="rect">
            <a:avLst/>
          </a:prstGeom>
          <a:noFill/>
          <a:ln/>
        </p:spPr>
        <p:txBody>
          <a:bodyPr wrap="square" lIns="0" tIns="0" rIns="0" bIns="0" rtlCol="0" anchor="t"/>
          <a:lstStyle/>
          <a:p>
            <a:pPr marL="0" indent="0">
              <a:buNone/>
            </a:pPr>
            <a:r>
              <a:rPr lang="en-US" sz="1200" dirty="0">
                <a:solidFill>
                  <a:schemeClr val="tx1"/>
                </a:solidFill>
              </a:rPr>
              <a:t>Legal Notice of Demand, Legal Opinion, Case Brief and Legal Assessment Report.</a:t>
            </a:r>
            <a:endParaRPr lang="en-US" sz="1200" dirty="0"/>
          </a:p>
        </p:txBody>
      </p:sp>
      <p:sp>
        <p:nvSpPr>
          <p:cNvPr id="16" name="VRAM strip"/>
          <p:cNvSpPr/>
          <p:nvPr/>
        </p:nvSpPr>
        <p:spPr>
          <a:xfrm>
            <a:off x="6619830" y="4928616"/>
            <a:ext cx="5020481" cy="1380744"/>
          </a:xfrm>
          <a:prstGeom prst="roundRect">
            <a:avLst>
              <a:gd name="adj" fmla="val 6000"/>
            </a:avLst>
          </a:prstGeom>
          <a:solidFill>
            <a:schemeClr val="tx1"/>
          </a:solidFill>
          <a:ln/>
        </p:spPr>
      </p:sp>
      <p:sp>
        <p:nvSpPr>
          <p:cNvPr id="17" name="VRAM value"/>
          <p:cNvSpPr txBox="1"/>
          <p:nvPr/>
        </p:nvSpPr>
        <p:spPr>
          <a:xfrm>
            <a:off x="6848430" y="4983479"/>
            <a:ext cx="4563281" cy="548640"/>
          </a:xfrm>
          <a:prstGeom prst="rect">
            <a:avLst/>
          </a:prstGeom>
          <a:noFill/>
          <a:ln/>
        </p:spPr>
        <p:txBody>
          <a:bodyPr wrap="square" lIns="0" tIns="0" rIns="0" bIns="0" rtlCol="0" anchor="ctr"/>
          <a:lstStyle/>
          <a:p>
            <a:pPr marL="0" indent="0">
              <a:buNone/>
            </a:pPr>
            <a:r>
              <a:rPr lang="en-US" sz="3200" b="1" dirty="0">
                <a:solidFill>
                  <a:schemeClr val="accent2"/>
                </a:solidFill>
                <a:latin typeface="+mj-lt" pitchFamily="34" charset="0"/>
                <a:ea typeface="+mj-lt" pitchFamily="34" charset="-122"/>
                <a:cs typeface="+mj-lt" pitchFamily="34" charset="-120"/>
              </a:rPr>
              <a:t>5.96 GB</a:t>
            </a:r>
            <a:endParaRPr lang="en-US" sz="3200" dirty="0"/>
          </a:p>
        </p:txBody>
      </p:sp>
      <p:sp>
        <p:nvSpPr>
          <p:cNvPr id="18" name="VRAM text"/>
          <p:cNvSpPr txBox="1"/>
          <p:nvPr/>
        </p:nvSpPr>
        <p:spPr>
          <a:xfrm>
            <a:off x="6848430" y="5513831"/>
            <a:ext cx="4563281" cy="740664"/>
          </a:xfrm>
          <a:prstGeom prst="rect">
            <a:avLst/>
          </a:prstGeom>
          <a:noFill/>
          <a:ln/>
        </p:spPr>
        <p:txBody>
          <a:bodyPr wrap="square" lIns="0" tIns="0" rIns="0" bIns="0" rtlCol="0" anchor="t"/>
          <a:lstStyle/>
          <a:p>
            <a:pPr marL="0" indent="0">
              <a:buNone/>
            </a:pPr>
            <a:r>
              <a:rPr lang="en-US" sz="1300" dirty="0">
                <a:solidFill>
                  <a:schemeClr val="bg1"/>
                </a:solidFill>
              </a:rPr>
              <a:t>Measured peak VRAM running the full 8B model on an 8 GB RTX 5060 laptop GPU, using 4-bit NormalFloat (NF4) double quantization.</a:t>
            </a:r>
            <a:endParaRPr lang="en-US" sz="1300" dirty="0"/>
          </a:p>
        </p:txBody>
      </p:sp>
      <p:sp>
        <p:nvSpPr>
          <p:cNvPr id="25"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pic>
        <p:nvPicPr>
          <p:cNvPr id="26" name="Agent tool call output">
            <a:extLst>
              <a:ext uri="{FF2B5EF4-FFF2-40B4-BE49-F238E27FC236}">
                <a16:creationId xmlns:a16="http://schemas.microsoft.com/office/drawing/2014/main" id="{CAD9D6CD-120C-82AB-E01A-AD3207646E38}"/>
              </a:ext>
            </a:extLst>
          </p:cNvPr>
          <p:cNvPicPr>
            <a:picLocks noChangeAspect="1"/>
          </p:cNvPicPr>
          <p:nvPr/>
        </p:nvPicPr>
        <p:blipFill>
          <a:blip r:embed="rId3"/>
          <a:srcRect r="42375" b="28926"/>
          <a:stretch>
            <a:fillRect/>
          </a:stretch>
        </p:blipFill>
        <p:spPr>
          <a:xfrm>
            <a:off x="548640" y="1554480"/>
            <a:ext cx="5796870" cy="4297680"/>
          </a:xfrm>
          <a:prstGeom prst="rect">
            <a:avLst/>
          </a:prstGeom>
          <a:ln w="12700">
            <a:solidFill>
              <a:schemeClr val="accent6"/>
            </a:solidFill>
          </a:ln>
        </p:spPr>
      </p:pic>
      <p:pic>
        <p:nvPicPr>
          <p:cNvPr id="27" name="Word download button"/>
          <p:cNvPicPr>
            <a:picLocks noChangeAspect="1"/>
          </p:cNvPicPr>
          <p:nvPr/>
        </p:nvPicPr>
        <p:blipFill>
          <a:blip r:embed="rId3"/>
          <a:srcRect l="497" t="93223" r="82613" b="1240"/>
          <a:stretch>
            <a:fillRect/>
          </a:stretch>
        </p:blipFill>
        <p:spPr>
          <a:xfrm>
            <a:off x="548640" y="5925312"/>
            <a:ext cx="1699082" cy="334819"/>
          </a:xfrm>
          <a:prstGeom prst="rect">
            <a:avLst/>
          </a:prstGeom>
          <a:ln w="12700">
            <a:solidFill>
              <a:schemeClr val="accent6"/>
            </a:solidFill>
          </a:ln>
        </p:spPr>
      </p:pic>
      <p:sp>
        <p:nvSpPr>
          <p:cNvPr id="28" name="Screenshot caption 6"/>
          <p:cNvSpPr txBox="1"/>
          <p:nvPr/>
        </p:nvSpPr>
        <p:spPr>
          <a:xfrm>
            <a:off x="2384882" y="5925312"/>
            <a:ext cx="3960627" cy="334819"/>
          </a:xfrm>
          <a:prstGeom prst="rect">
            <a:avLst/>
          </a:prstGeom>
          <a:noFill/>
        </p:spPr>
        <p:txBody>
          <a:bodyPr wrap="square" lIns="0" tIns="0" rIns="0" bIns="0" anchor="ctr">
            <a:noAutofit/>
          </a:bodyPr>
          <a:lstStyle/>
          <a:p>
            <a:r>
              <a:rPr sz="1000" b="0">
                <a:solidFill>
                  <a:schemeClr val="accent6"/>
                </a:solidFill>
              </a:rPr>
              <a:t>Tool call output and one-click Word download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11064240" cy="274320"/>
          </a:xfrm>
          <a:prstGeom prst="rect">
            <a:avLst/>
          </a:prstGeom>
          <a:noFill/>
          <a:ln/>
        </p:spPr>
        <p:txBody>
          <a:bodyPr wrap="square" lIns="0" tIns="0" rIns="0" bIns="0" rtlCol="0"/>
          <a:lstStyle/>
          <a:p>
            <a:pPr marL="0" indent="0" algn="l">
              <a:buNone/>
            </a:pPr>
            <a:r>
              <a:rPr lang="en-US" sz="1200" b="1" kern="0" spc="200" dirty="0">
                <a:solidFill>
                  <a:schemeClr val="accent1"/>
                </a:solidFill>
              </a:rPr>
              <a:t>DEMO WALKTHROUGH AND FUTURE VISION</a:t>
            </a:r>
            <a:endParaRPr lang="en-US" sz="1200" dirty="0"/>
          </a:p>
        </p:txBody>
      </p:sp>
      <p:sp>
        <p:nvSpPr>
          <p:cNvPr id="3" name="Text 0"/>
          <p:cNvSpPr>
            <a:spLocks noGrp="1"/>
          </p:cNvSpPr>
          <p:nvPr>
            <p:ph type="title" idx="101" hasCustomPrompt="1"/>
          </p:nvPr>
        </p:nvSpPr>
        <p:spPr>
          <a:xfrm>
            <a:off x="548640" y="713232"/>
            <a:ext cx="11064240" cy="685800"/>
          </a:xfrm>
          <a:prstGeom prst="rect">
            <a:avLst/>
          </a:prstGeom>
          <a:noFill/>
          <a:ln/>
        </p:spPr>
        <p:txBody>
          <a:bodyPr wrap="square" lIns="0" tIns="0" rIns="0" bIns="0" rtlCol="0" anchor="t"/>
          <a:lstStyle/>
          <a:p>
            <a:pPr marL="0" indent="0" algn="l">
              <a:buNone/>
            </a:pPr>
            <a:r>
              <a:rPr lang="en-US" sz="3200" b="1" dirty="0">
                <a:solidFill>
                  <a:schemeClr val="tx1"/>
                </a:solidFill>
              </a:rPr>
              <a:t>End-to-end demo, impact and roadmap</a:t>
            </a:r>
            <a:endParaRPr lang="en-US" sz="3200" dirty="0"/>
          </a:p>
        </p:txBody>
      </p:sp>
      <p:sp>
        <p:nvSpPr>
          <p:cNvPr id="4" name="Walkthrough heading"/>
          <p:cNvSpPr txBox="1"/>
          <p:nvPr/>
        </p:nvSpPr>
        <p:spPr>
          <a:xfrm>
            <a:off x="548640" y="1600200"/>
            <a:ext cx="379476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Case study walkthrough</a:t>
            </a:r>
            <a:endParaRPr lang="en-US" sz="1800" dirty="0"/>
          </a:p>
        </p:txBody>
      </p:sp>
      <p:sp>
        <p:nvSpPr>
          <p:cNvPr id="5" name="Step badge 1"/>
          <p:cNvSpPr/>
          <p:nvPr/>
        </p:nvSpPr>
        <p:spPr>
          <a:xfrm>
            <a:off x="548640" y="2103120"/>
            <a:ext cx="365760" cy="365760"/>
          </a:xfrm>
          <a:prstGeom prst="ellipse">
            <a:avLst/>
          </a:prstGeom>
          <a:solidFill>
            <a:schemeClr val="accent1"/>
          </a:solidFill>
          <a:ln/>
        </p:spPr>
      </p:sp>
      <p:sp>
        <p:nvSpPr>
          <p:cNvPr id="6" name="Step number 1"/>
          <p:cNvSpPr txBox="1"/>
          <p:nvPr/>
        </p:nvSpPr>
        <p:spPr>
          <a:xfrm>
            <a:off x="548640" y="2103120"/>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Step text 1"/>
          <p:cNvSpPr txBox="1"/>
          <p:nvPr/>
        </p:nvSpPr>
        <p:spPr>
          <a:xfrm>
            <a:off x="1051560" y="2121408"/>
            <a:ext cx="3291840" cy="731520"/>
          </a:xfrm>
          <a:prstGeom prst="rect">
            <a:avLst/>
          </a:prstGeom>
          <a:noFill/>
          <a:ln/>
        </p:spPr>
        <p:txBody>
          <a:bodyPr wrap="square" lIns="0" tIns="0" rIns="0" bIns="0" rtlCol="0" anchor="t"/>
          <a:lstStyle/>
          <a:p>
            <a:pPr marL="0" indent="0">
              <a:buNone/>
            </a:pPr>
            <a:r>
              <a:rPr lang="en-US" sz="1400" b="1" dirty="0">
                <a:solidFill>
                  <a:schemeClr val="tx1"/>
                </a:solidFill>
              </a:rPr>
              <a:t>Prompt  </a:t>
            </a:r>
            <a:r>
              <a:rPr lang="en-US" sz="1400" dirty="0">
                <a:solidFill>
                  <a:schemeClr val="tx1"/>
                </a:solidFill>
              </a:rPr>
              <a:t>Draft a legal notice for dishonour of an INR 15,00,000 cheque under Section 138 NI Act.</a:t>
            </a:r>
            <a:endParaRPr lang="en-US" sz="1400" dirty="0"/>
          </a:p>
        </p:txBody>
      </p:sp>
      <p:sp>
        <p:nvSpPr>
          <p:cNvPr id="8" name="Step badge 2"/>
          <p:cNvSpPr/>
          <p:nvPr/>
        </p:nvSpPr>
        <p:spPr>
          <a:xfrm>
            <a:off x="548640" y="2953512"/>
            <a:ext cx="365760" cy="365760"/>
          </a:xfrm>
          <a:prstGeom prst="ellipse">
            <a:avLst/>
          </a:prstGeom>
          <a:solidFill>
            <a:schemeClr val="accent1"/>
          </a:solidFill>
          <a:ln/>
        </p:spPr>
      </p:sp>
      <p:sp>
        <p:nvSpPr>
          <p:cNvPr id="9" name="Step number 2"/>
          <p:cNvSpPr txBox="1"/>
          <p:nvPr/>
        </p:nvSpPr>
        <p:spPr>
          <a:xfrm>
            <a:off x="548640" y="2953512"/>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0" name="Step text 2"/>
          <p:cNvSpPr txBox="1"/>
          <p:nvPr/>
        </p:nvSpPr>
        <p:spPr>
          <a:xfrm>
            <a:off x="1051560" y="2971800"/>
            <a:ext cx="3291840" cy="731520"/>
          </a:xfrm>
          <a:prstGeom prst="rect">
            <a:avLst/>
          </a:prstGeom>
          <a:noFill/>
          <a:ln/>
        </p:spPr>
        <p:txBody>
          <a:bodyPr wrap="square" lIns="0" tIns="0" rIns="0" bIns="0" rtlCol="0" anchor="t"/>
          <a:lstStyle/>
          <a:p>
            <a:pPr marL="0" indent="0">
              <a:buNone/>
            </a:pPr>
            <a:r>
              <a:rPr lang="en-US" sz="1400" b="1" dirty="0">
                <a:solidFill>
                  <a:schemeClr val="tx1"/>
                </a:solidFill>
              </a:rPr>
              <a:t>Route  </a:t>
            </a:r>
            <a:r>
              <a:rPr lang="en-US" sz="1400" dirty="0">
                <a:solidFill>
                  <a:schemeClr val="tx1"/>
                </a:solidFill>
              </a:rPr>
              <a:t>Intent classified as STATUTE / LOCAL in 0 ms.</a:t>
            </a:r>
            <a:endParaRPr lang="en-US" sz="1400" dirty="0"/>
          </a:p>
        </p:txBody>
      </p:sp>
      <p:sp>
        <p:nvSpPr>
          <p:cNvPr id="11" name="Step badge 3"/>
          <p:cNvSpPr/>
          <p:nvPr/>
        </p:nvSpPr>
        <p:spPr>
          <a:xfrm>
            <a:off x="548640" y="3803904"/>
            <a:ext cx="365760" cy="365760"/>
          </a:xfrm>
          <a:prstGeom prst="ellipse">
            <a:avLst/>
          </a:prstGeom>
          <a:solidFill>
            <a:schemeClr val="accent1"/>
          </a:solidFill>
          <a:ln/>
        </p:spPr>
      </p:sp>
      <p:sp>
        <p:nvSpPr>
          <p:cNvPr id="12" name="Step number 3"/>
          <p:cNvSpPr txBox="1"/>
          <p:nvPr/>
        </p:nvSpPr>
        <p:spPr>
          <a:xfrm>
            <a:off x="548640" y="3803904"/>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3" name="Step text 3"/>
          <p:cNvSpPr txBox="1"/>
          <p:nvPr/>
        </p:nvSpPr>
        <p:spPr>
          <a:xfrm>
            <a:off x="1051560" y="3822192"/>
            <a:ext cx="3291840" cy="731520"/>
          </a:xfrm>
          <a:prstGeom prst="rect">
            <a:avLst/>
          </a:prstGeom>
          <a:noFill/>
          <a:ln/>
        </p:spPr>
        <p:txBody>
          <a:bodyPr wrap="square" lIns="0" tIns="0" rIns="0" bIns="0" rtlCol="0" anchor="t"/>
          <a:lstStyle/>
          <a:p>
            <a:pPr marL="0" indent="0">
              <a:buNone/>
            </a:pPr>
            <a:r>
              <a:rPr lang="en-US" sz="1400" b="1" dirty="0">
                <a:solidFill>
                  <a:schemeClr val="tx1"/>
                </a:solidFill>
              </a:rPr>
              <a:t>Retrieve  </a:t>
            </a:r>
            <a:r>
              <a:rPr lang="en-US" sz="1400" dirty="0">
                <a:solidFill>
                  <a:schemeClr val="tx1"/>
                </a:solidFill>
              </a:rPr>
              <a:t>Sections 138 and 141 NI Act, plus Dashrath Rupsingh Rathod (Supreme Court).</a:t>
            </a:r>
            <a:endParaRPr lang="en-US" sz="1400" dirty="0"/>
          </a:p>
        </p:txBody>
      </p:sp>
      <p:sp>
        <p:nvSpPr>
          <p:cNvPr id="14" name="Step badge 4"/>
          <p:cNvSpPr/>
          <p:nvPr/>
        </p:nvSpPr>
        <p:spPr>
          <a:xfrm>
            <a:off x="548640" y="4654296"/>
            <a:ext cx="365760" cy="365760"/>
          </a:xfrm>
          <a:prstGeom prst="ellipse">
            <a:avLst/>
          </a:prstGeom>
          <a:solidFill>
            <a:schemeClr val="accent1"/>
          </a:solidFill>
          <a:ln/>
        </p:spPr>
      </p:sp>
      <p:sp>
        <p:nvSpPr>
          <p:cNvPr id="15" name="Step number 4"/>
          <p:cNvSpPr txBox="1"/>
          <p:nvPr/>
        </p:nvSpPr>
        <p:spPr>
          <a:xfrm>
            <a:off x="548640" y="4654296"/>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Step text 4"/>
          <p:cNvSpPr txBox="1"/>
          <p:nvPr/>
        </p:nvSpPr>
        <p:spPr>
          <a:xfrm>
            <a:off x="1051560" y="4672584"/>
            <a:ext cx="3291840" cy="731520"/>
          </a:xfrm>
          <a:prstGeom prst="rect">
            <a:avLst/>
          </a:prstGeom>
          <a:noFill/>
          <a:ln/>
        </p:spPr>
        <p:txBody>
          <a:bodyPr wrap="square" lIns="0" tIns="0" rIns="0" bIns="0" rtlCol="0" anchor="t"/>
          <a:lstStyle/>
          <a:p>
            <a:pPr marL="0" indent="0">
              <a:buNone/>
            </a:pPr>
            <a:r>
              <a:rPr lang="en-US" sz="1400" b="1" dirty="0">
                <a:solidFill>
                  <a:schemeClr val="tx1"/>
                </a:solidFill>
              </a:rPr>
              <a:t>Compute  </a:t>
            </a:r>
            <a:r>
              <a:rPr lang="en-US" sz="1400" dirty="0">
                <a:solidFill>
                  <a:schemeClr val="tx1"/>
                </a:solidFill>
              </a:rPr>
              <a:t>Section 34 CPC interest at 18% p.a. gives a total claim of INR 17,70,000.</a:t>
            </a:r>
            <a:endParaRPr lang="en-US" sz="1400" dirty="0"/>
          </a:p>
        </p:txBody>
      </p:sp>
      <p:sp>
        <p:nvSpPr>
          <p:cNvPr id="17" name="Step badge 5"/>
          <p:cNvSpPr/>
          <p:nvPr/>
        </p:nvSpPr>
        <p:spPr>
          <a:xfrm>
            <a:off x="548640" y="5504688"/>
            <a:ext cx="365760" cy="365760"/>
          </a:xfrm>
          <a:prstGeom prst="ellipse">
            <a:avLst/>
          </a:prstGeom>
          <a:solidFill>
            <a:schemeClr val="accent1"/>
          </a:solidFill>
          <a:ln/>
        </p:spPr>
      </p:sp>
      <p:sp>
        <p:nvSpPr>
          <p:cNvPr id="18" name="Step number 5"/>
          <p:cNvSpPr txBox="1"/>
          <p:nvPr/>
        </p:nvSpPr>
        <p:spPr>
          <a:xfrm>
            <a:off x="548640" y="5504688"/>
            <a:ext cx="365760" cy="365760"/>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9" name="Step text 5"/>
          <p:cNvSpPr txBox="1"/>
          <p:nvPr/>
        </p:nvSpPr>
        <p:spPr>
          <a:xfrm>
            <a:off x="1051560" y="5522976"/>
            <a:ext cx="3291840" cy="731520"/>
          </a:xfrm>
          <a:prstGeom prst="rect">
            <a:avLst/>
          </a:prstGeom>
          <a:noFill/>
          <a:ln/>
        </p:spPr>
        <p:txBody>
          <a:bodyPr wrap="square" lIns="0" tIns="0" rIns="0" bIns="0" rtlCol="0" anchor="t"/>
          <a:lstStyle/>
          <a:p>
            <a:pPr marL="0" indent="0">
              <a:buNone/>
            </a:pPr>
            <a:r>
              <a:rPr lang="en-US" sz="1400" b="1" dirty="0">
                <a:solidFill>
                  <a:schemeClr val="tx1"/>
                </a:solidFill>
              </a:rPr>
              <a:t>Generate  </a:t>
            </a:r>
            <a:r>
              <a:rPr lang="en-US" sz="1400" dirty="0">
                <a:solidFill>
                  <a:schemeClr val="tx1"/>
                </a:solidFill>
              </a:rPr>
              <a:t>Formatted .docx saved to generated_documents/.</a:t>
            </a:r>
            <a:endParaRPr lang="en-US" sz="1400" dirty="0"/>
          </a:p>
        </p:txBody>
      </p:sp>
      <p:sp>
        <p:nvSpPr>
          <p:cNvPr id="20" name="Impact heading"/>
          <p:cNvSpPr txBox="1"/>
          <p:nvPr/>
        </p:nvSpPr>
        <p:spPr>
          <a:xfrm>
            <a:off x="4572000" y="1600200"/>
            <a:ext cx="233172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Impact</a:t>
            </a:r>
            <a:endParaRPr lang="en-US" sz="1800" dirty="0"/>
          </a:p>
        </p:txBody>
      </p:sp>
      <p:sp>
        <p:nvSpPr>
          <p:cNvPr id="21" name="Impact bullets"/>
          <p:cNvSpPr txBox="1"/>
          <p:nvPr/>
        </p:nvSpPr>
        <p:spPr>
          <a:xfrm>
            <a:off x="4572000" y="2103120"/>
            <a:ext cx="2331720" cy="2286000"/>
          </a:xfrm>
          <a:prstGeom prst="rect">
            <a:avLst/>
          </a:prstGeom>
          <a:noFill/>
          <a:ln/>
        </p:spPr>
        <p:txBody>
          <a:bodyPr wrap="square" lIns="0" tIns="0" rIns="0" bIns="0" rtlCol="0" anchor="t"/>
          <a:lstStyle/>
          <a:p>
            <a:pPr marL="203200" indent="-203200">
              <a:spcAft>
                <a:spcPts val="800"/>
              </a:spcAft>
              <a:buSzPct val="100000"/>
              <a:buChar char="•"/>
            </a:pPr>
            <a:r>
              <a:rPr lang="en-US" sz="1200" dirty="0">
                <a:solidFill>
                  <a:schemeClr val="tx1"/>
                </a:solidFill>
              </a:rPr>
              <a:t>Private by design: no client data leaves the machine, preserving attorney-client privilege</a:t>
            </a:r>
            <a:endParaRPr lang="en-US" sz="1200" dirty="0"/>
          </a:p>
          <a:p>
            <a:pPr marL="203200" indent="-203200">
              <a:spcAft>
                <a:spcPts val="800"/>
              </a:spcAft>
              <a:buSzPct val="100000"/>
              <a:buChar char="•"/>
            </a:pPr>
            <a:r>
              <a:rPr lang="en-US" sz="1200" dirty="0">
                <a:solidFill>
                  <a:schemeClr val="tx1"/>
                </a:solidFill>
              </a:rPr>
              <a:t>Accessible: 8B multimodal reasoning on an 8 GB laptop GPU</a:t>
            </a:r>
            <a:endParaRPr lang="en-US" sz="1200" dirty="0"/>
          </a:p>
          <a:p>
            <a:pPr marL="203200" indent="-203200">
              <a:spcAft>
                <a:spcPts val="800"/>
              </a:spcAft>
              <a:buSzPct val="100000"/>
              <a:buChar char="•"/>
            </a:pPr>
            <a:r>
              <a:rPr lang="en-US" sz="1200" dirty="0">
                <a:solidFill>
                  <a:schemeClr val="tx1"/>
                </a:solidFill>
              </a:rPr>
              <a:t>Grounded: citations drawn from 5.6M passages, curbing hallucinated sections</a:t>
            </a:r>
            <a:endParaRPr lang="en-US" sz="1200" dirty="0"/>
          </a:p>
        </p:txBody>
      </p:sp>
      <p:sp>
        <p:nvSpPr>
          <p:cNvPr id="22" name="Roadmap heading"/>
          <p:cNvSpPr txBox="1"/>
          <p:nvPr/>
        </p:nvSpPr>
        <p:spPr>
          <a:xfrm>
            <a:off x="4572000" y="4434840"/>
            <a:ext cx="2331720" cy="365760"/>
          </a:xfrm>
          <a:prstGeom prst="rect">
            <a:avLst/>
          </a:prstGeom>
          <a:noFill/>
          <a:ln/>
        </p:spPr>
        <p:txBody>
          <a:bodyPr wrap="square" lIns="0" tIns="0" rIns="0" bIns="0" rtlCol="0" anchor="t"/>
          <a:lstStyle/>
          <a:p>
            <a:pPr marL="0" indent="0">
              <a:buNone/>
            </a:pPr>
            <a:r>
              <a:rPr lang="en-US" sz="1800" b="1" dirty="0">
                <a:solidFill>
                  <a:schemeClr val="tx1"/>
                </a:solidFill>
                <a:latin typeface="+mj-lt" pitchFamily="34" charset="0"/>
                <a:ea typeface="+mj-lt" pitchFamily="34" charset="-122"/>
                <a:cs typeface="+mj-lt" pitchFamily="34" charset="-120"/>
              </a:rPr>
              <a:t>Roadmap</a:t>
            </a:r>
            <a:endParaRPr lang="en-US" sz="1800" dirty="0"/>
          </a:p>
        </p:txBody>
      </p:sp>
      <p:sp>
        <p:nvSpPr>
          <p:cNvPr id="23" name="Roadmap bullets"/>
          <p:cNvSpPr txBox="1"/>
          <p:nvPr/>
        </p:nvSpPr>
        <p:spPr>
          <a:xfrm>
            <a:off x="4572000" y="4937760"/>
            <a:ext cx="2331720" cy="1371600"/>
          </a:xfrm>
          <a:prstGeom prst="rect">
            <a:avLst/>
          </a:prstGeom>
          <a:noFill/>
          <a:ln/>
        </p:spPr>
        <p:txBody>
          <a:bodyPr wrap="square" lIns="0" tIns="0" rIns="0" bIns="0" rtlCol="0" anchor="t"/>
          <a:lstStyle/>
          <a:p>
            <a:pPr marL="203200" indent="-203200">
              <a:spcAft>
                <a:spcPts val="800"/>
              </a:spcAft>
              <a:buSzPct val="100000"/>
              <a:buChar char="•"/>
            </a:pPr>
            <a:r>
              <a:rPr lang="en-US" sz="1200" dirty="0">
                <a:solidFill>
                  <a:schemeClr val="tx1"/>
                </a:solidFill>
              </a:rPr>
              <a:t>Multi-agent judicial simulation: judge and advocate debate for trial strategy</a:t>
            </a:r>
            <a:endParaRPr lang="en-US" sz="1200" dirty="0"/>
          </a:p>
          <a:p>
            <a:pPr marL="203200" indent="-203200">
              <a:spcAft>
                <a:spcPts val="800"/>
              </a:spcAft>
              <a:buSzPct val="100000"/>
              <a:buChar char="•"/>
            </a:pPr>
            <a:r>
              <a:rPr lang="en-US" sz="1200" dirty="0">
                <a:solidFill>
                  <a:schemeClr val="tx1"/>
                </a:solidFill>
              </a:rPr>
              <a:t>Vernacular expansion: Hindi, Marathi, Bengali and Tamil high court records</a:t>
            </a:r>
            <a:endParaRPr lang="en-US" sz="1200" dirty="0"/>
          </a:p>
        </p:txBody>
      </p:sp>
      <p:sp>
        <p:nvSpPr>
          <p:cNvPr id="26" name="Screenshot title 7"/>
          <p:cNvSpPr txBox="1"/>
          <p:nvPr/>
        </p:nvSpPr>
        <p:spPr>
          <a:xfrm>
            <a:off x="7205472" y="1600200"/>
            <a:ext cx="4434840" cy="274320"/>
          </a:xfrm>
          <a:prstGeom prst="rect">
            <a:avLst/>
          </a:prstGeom>
          <a:noFill/>
          <a:ln/>
        </p:spPr>
        <p:txBody>
          <a:bodyPr wrap="square" lIns="0" tIns="0" rIns="0" bIns="0" rtlCol="0" anchor="t"/>
          <a:lstStyle/>
          <a:p>
            <a:pPr marL="0" indent="0">
              <a:buNone/>
            </a:pPr>
            <a:r>
              <a:rPr lang="en-US" sz="1400" b="1" dirty="0">
                <a:solidFill>
                  <a:schemeClr val="tx1"/>
                </a:solidFill>
                <a:latin typeface="+mj-lt" pitchFamily="34" charset="0"/>
                <a:ea typeface="+mj-lt" pitchFamily="34" charset="-122"/>
                <a:cs typeface="+mj-lt" pitchFamily="34" charset="-120"/>
              </a:rPr>
              <a:t>Generated legal notice</a:t>
            </a:r>
            <a:endParaRPr lang="en-US" sz="1400" dirty="0"/>
          </a:p>
        </p:txBody>
      </p:sp>
      <p:sp>
        <p:nvSpPr>
          <p:cNvPr id="28" name="Slide Number Placeholder 0"/>
          <p:cNvSpPr>
            <a:spLocks noGrp="1"/>
          </p:cNvSpPr>
          <p:nvPr>
            <p:ph type="sldNum" sz="quarter" idx="4294967295"/>
          </p:nvPr>
        </p:nvSpPr>
        <p:spPr>
          <a:xfrm>
            <a:off x="11064240" y="6419088"/>
            <a:ext cx="57607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pic>
        <p:nvPicPr>
          <p:cNvPr id="30" name="Picture 29">
            <a:extLst>
              <a:ext uri="{FF2B5EF4-FFF2-40B4-BE49-F238E27FC236}">
                <a16:creationId xmlns:a16="http://schemas.microsoft.com/office/drawing/2014/main" id="{77E9A0D3-CAB9-D0E3-B418-0ED0767DAD38}"/>
              </a:ext>
            </a:extLst>
          </p:cNvPr>
          <p:cNvPicPr>
            <a:picLocks noChangeAspect="1"/>
          </p:cNvPicPr>
          <p:nvPr/>
        </p:nvPicPr>
        <p:blipFill>
          <a:blip r:embed="rId3"/>
          <a:srcRect l="8897" t="10392" r="9609"/>
          <a:stretch>
            <a:fillRect/>
          </a:stretch>
        </p:blipFill>
        <p:spPr>
          <a:xfrm>
            <a:off x="7205472" y="1965960"/>
            <a:ext cx="4436389" cy="4343400"/>
          </a:xfrm>
          <a:prstGeom prst="rect">
            <a:avLst/>
          </a:prstGeom>
          <a:ln w="12700">
            <a:solidFill>
              <a:schemeClr val="accent6"/>
            </a:solidFill>
          </a:ln>
        </p:spPr>
      </p:pic>
    </p:spTree>
  </p:cSld>
  <p:clrMapOvr>
    <a:masterClrMapping/>
  </p:clrMapOvr>
</p:sld>
</file>

<file path=ppt/theme/theme1.xml><?xml version="1.0" encoding="utf-8"?>
<a:theme xmlns:a="http://schemas.openxmlformats.org/drawingml/2006/main" name="Legal Copilot">
  <a:themeElements>
    <a:clrScheme name="Legal Copilot">
      <a:dk1>
        <a:srgbClr val="1C2333"/>
      </a:dk1>
      <a:lt1>
        <a:srgbClr val="FFFFFF"/>
      </a:lt1>
      <a:dk2>
        <a:srgbClr val="2A344D"/>
      </a:dk2>
      <a:lt2>
        <a:srgbClr val="EFF1F5"/>
      </a:lt2>
      <a:accent1>
        <a:srgbClr val="8A5A1F"/>
      </a:accent1>
      <a:accent2>
        <a:srgbClr val="D2A65E"/>
      </a:accent2>
      <a:accent3>
        <a:srgbClr val="3F5E7A"/>
      </a:accent3>
      <a:accent4>
        <a:srgbClr val="4F7A63"/>
      </a:accent4>
      <a:accent5>
        <a:srgbClr val="8C3B3B"/>
      </a:accent5>
      <a:accent6>
        <a:srgbClr val="5A6275"/>
      </a:accent6>
      <a:hlink>
        <a:srgbClr val="3F5E7A"/>
      </a:hlink>
      <a:folHlink>
        <a:srgbClr val="5A6275"/>
      </a:folHlink>
    </a:clrScheme>
    <a:fontScheme name="Legal Copilo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1342</Words>
  <Application>Microsoft Office PowerPoint</Application>
  <PresentationFormat>Widescreen</PresentationFormat>
  <Paragraphs>233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Legal Copilot</vt:lpstr>
      <vt:lpstr>Domain-Adapted Intelligence on Commodity Hardware</vt:lpstr>
      <vt:lpstr>Dual corpus: 50K pairs and 5.6M chunks</vt:lpstr>
      <vt:lpstr>RS-LoRA: parameter-efficient domain adaptation</vt:lpstr>
      <vt:lpstr>Four-stage hybrid retrieval pipeline</vt:lpstr>
      <vt:lpstr>Benchmark: 100 strictly unseen legal questions</vt:lpstr>
      <vt:lpstr>Autonomous agent and Word compilation</vt:lpstr>
      <vt:lpstr>End-to-end demo, impact and roadmap</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Domain-Adapted Intelligence on Commodity Hardware</dc:title>
  <dc:subject>PptxGenJS Presentation</dc:subject>
  <dc:creator>PptxGenJS</dc:creator>
  <cp:lastModifiedBy>ishancjawale@outlook.com</cp:lastModifiedBy>
  <cp:revision>14</cp:revision>
  <dcterms:created xsi:type="dcterms:W3CDTF">2026-10-15T12:00:12Z</dcterms:created>
  <dcterms:modified xsi:type="dcterms:W3CDTF">2026-10-15T18:56:30Z</dcterms:modified>
</cp:coreProperties>
</file>